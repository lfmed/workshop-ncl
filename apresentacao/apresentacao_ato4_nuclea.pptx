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Roboto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82BDD0-B64D-46E4-96DA-3601281D979A}">
  <a:tblStyle styleId="{D482BDD0-B64D-46E4-96DA-3601281D97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nv7s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nv7s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Abertura. Hoje o centro é o Ato 4: agentes especialistas de crédito construídos ao vivo no Genie Code. Vou mostrar rapidamente como chegamos até aqui (ingestão, qualidade e score) e dedicar a maior parte do tempo à construção ao vivo. Todos os dados são sintéticos, mas imitam a estrutura das bases reais da Núclea.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nv7s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nv7s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time Núclea trouxe essa provocação: o conhecimento das bases está concentrado em poucas pessoas. Toda pergunta de cliente vira uma fila para o cientista. É esse gargalo que vamos atacar.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nv7s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nv7s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 é a pergunta-alvo, e vamos respondê-la ao vivo no fim. Repare quantos passos de conhecimento especializado ela esconde. Cada um desses passos vai virar uma ferramenta de um agente.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nv7s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nv7s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Antes da técnica, o produto. Proposta de trabalho: um Monitor de Carteira PJ com agentes. A instituição pergunta sobre a própria carteira e recebe um parecer completo. A mesma base serve três canais: autoatendimento, Genie e API ou Delta Sharing. É uma proposta para discutir com o time, não um produto oficial.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nv7s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nv7s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Quem compraria. Instituições de pagamento e cooperativas raramente têm um time grande de ciência de dados: para elas, o canal é o autoatendimento com agentes, que é o benefício de interface self-service que o time Núclea listou. Bancos médios querem o parecer pronto e o benchmark para o comitê de crédito. Grandes bancos consomem os indicadores por API ou Delta Sharing, ou seja, vender indicadores para grandes clientes. E FIDCs e credenciadoras monitoram o lastro dos recebíveis. Os números são do dado sintético do workshop.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nv7s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nv7s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que isso é um produto da Núclea e não de um banco. Primeiro, 53,8% dos tomadores têm crédito em mais de uma instituição: cada banco vê só a sua fatia, a Núclea vê o todo. Segundo, o benchmark anônimo: minha inadimplência de 4,02% contra 4,64% do mercado, sem expor ninguém. Terceiro, o alerta precoce: R$ 944,8 milhões de saldo ainda ativo estão em tomadores com algum sinal de deterioração, cruzando bases que nenhuma instituição tem sozinha. Dá para agir antes da perda; a inadimplência já materializada é de R$ 241 milhões. Tudo com governança e com um modelo comercial que é só proposta para discussão. Dados sintéticos.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nv7s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nv7s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ambiente é um único workspace com tudo serverless. O Unity Catalog é a camada que permite que pessoas, apps e agentes usem os mesmos dados com as mesmas regras. O Genie Code é o agente da própria plataforma: é com ele que vamos construir.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nv7s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nv7s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Sete domínios, 18 tabelas e cerca de 5,2 milhões de linhas, de abril a setembro de 2026. Tudo sintético. Clique no link do catálogo para mostrar as tabelas no Catalog Explorer.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nv7s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nv7s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carteira de crédito de uma instituição é o conjunto de gravames em que ela é financiadora (ISPB) sobre a agenda de recebíveis de empresas (CNPJ). Detalhe que importa: há três instituições com o mesmo nome, por isso identificamos sempre por ISPB.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nv7s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nv7s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Este é o mapa. Os Atos 1 a 3 já estão prontos no workspace e vou passar por eles em um minuto cada. Repare que o score do Ato 3 vira ferramenta do agente no Ato 4: as peças se encaixam.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nv7s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nv7s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 um minuto: os arquivos chegam em lotes, o Auto Loader ingere só o que é novo e o pipeline absorve até uma coluna nova. A qualidade tem camadas: regras, quarentena com motivo e reconciliação que fecha 19 de 19. O ponto alto: uma regra de qualidade revelou 3.965 boletos adulterados, um sinal que o agente vai usar.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nv7s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nv7s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Ato 3, em um minuto: features por CNPJ sem vazamento, LightGBM registrado no Unity Catalog e servido em tempo real. O mais importante: o score virou a função score_cnpj, que será ferramenta de um agente daqui a pouco. A AUC é moderada porque o dado é sintético.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nv7s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nv7s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Dois a três minutos para os Atos 1 a 3: mostre o artefato pronto e diga qual skill e qual prompt o Genie Code usou. Rode as três consultas no SQL editor. Primeiro a reconciliação (19 de 19), depois o score de um CNPJ e por fim o resumo da carteira, que é o especialista que já existe.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nv7s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nv7s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Esse é o recado principal: o conhecimento do cientista está escrito em skills. Abra uma skill no workspace e mostre que é um markdown com passos, armadilhas e números de validação. É isso que reduz a dependência do especialista.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nv7s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nv7s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Agora começa a parte ao vivo, que é o centro da demo. Tudo o que vem a seguir eu faço no Genie Code, na interface do Databricks.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nv7s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nv7s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desenho: um orquestrador recebe a pergunta e aciona especialistas em paralelo. Cada especialista é uma UC function, com permissão por EXECUTE. O ISPB vem do login e nunca do modelo, e o investigador só aceita CNPJs da própria carteira. Ao vivo, vou montar isso de três formas no Genie Code.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nv7s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nv7s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caber no tempo, os especialistas e a sala Genie de crédito já estão prontos. As funções foram anexadas à sala pela API, porque a UI não permitiu. Ao vivo, o Genie Code explora e valida, fazemos as perguntas na sala, montamos o Supervisor e ligamos as funções ao próprio Genie Code.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nv7s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nv7s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Índice do roteiro ao vivo. Cada título é um link para o slide do passo, com o prompt completo e o resultado esperado. Os especialistas e a sala Genie de crédito já estão prontos: ao vivo, o Genie Code explora, valida e orquestra.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nv7s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nv7s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Checklist antes de subir ao palco. Sem o endpoint acordado, o passo 4.4 fica lento por causa do scale-to-zero.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nv7s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nv7s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cinco funções já estão prontas. Aqui o ponto é mostrar que o Genie Code entende o que cada especialista faz pelo COMMENT e pela skill, escolhe os filtros e resume os achados. Se travar, rode a função direto no SQL editor (plano B).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nv7s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nv7s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Confira os números com a plateia. MG pior que o mercado é o primeiro insight acionável. Gonçalves da Mota no topo dos sinais.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nv7s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nv7s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Esse é o momento da confiança: o número do agente bate com o SQL direto. Sem isso, nada vai para o cliente.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nv7s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nv7s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sala de crédito já está pronta com a tabela, as 5 funções, as instruções e exemplos. As funções foram anexadas pela API, porque a UI não permitiu adicioná-las. Mostre as instruções: são as regras de negócio que antes estavam na cabeça do cientista. Depois faça a pergunta e abra o SQL gerado.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nv7s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nv7s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Segunda pergunta na mesma conversa. Gonçalves da Mota no topo com 8 pontos. É o alerta precoce que nenhuma instituição consegue sozinha.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nv7s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nv7s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Supervisor junta a sala de crédito pronta, as salas de risco e boletos e o score. As instruções definem os papéis de cada especialista.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nv7s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nv7s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Este é o clímax. Abra o trace e percorra cada chamada. Se o Supervisor estiver lento ou indisponível, o plano B é fazer a pergunta na sala Genie de crédito.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nv7s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nv7s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Fechamento do ao vivo: o agente da própria plataforma vira o agente de crédito, usando as mesmas funções governadas.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nv7s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nv7s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Tenha este slide à mão. As funções e a sala de crédito já estão prontas, então o plano B é sempre voltar a elas.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nv7s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nv7s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Esse é o resultado que deve aparecer. Os números batem com o SQL direto: 622 contratos, R$ 27,92 milhões e 4,02% contra 4,64% do mercado. Abra o app nuclea-monitor na aba Carteira e mostre o rastro dos agentes. Termine com o teste de acesso negado.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nv7s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nv7s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Voltando ao produto: o que muda é que o conhecimento vira ativo, a governança é de ponta a ponta e a resposta sai em segundos. E só a Núclea tem a visão do tomador inteiro. Cada segmento compra por um canal diferente; o modelo comercial é proposta para discussão. Dados sintéticos.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nv7s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nv7s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Proposta de caminho em 30, 60 e 90 dias. Feche com a pergunta para o time: qual é a próxima cabeça que vira skill?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nv7s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nv7s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de apoio: todos os ativos com link direto. Use para navegar durante a demo ou para quem quiser explorar depois.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nv7s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nv7s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Encerramento. Distribua o roteiro HTML com os prompts; cada participante usa o próprio schema lab_iniciais.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fe-sandbox-workshop-nuclea-genie.cloud.databricks.com/explore/data/workshop_nuclea_genie_catalo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fe-sandbox-workshop-nuclea-genie.cloud.databricks.com/explore/data/workshop_nuclea_genie_catalo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fe-sandbox-workshop-nuclea-genie.cloud.databricks.com/pipelines/96a97249-6bdc-42ce-a7aa-3c98c2543274" TargetMode="External"/><Relationship Id="rId4" Type="http://schemas.openxmlformats.org/officeDocument/2006/relationships/hyperlink" Target="https://fe-sandbox-workshop-nuclea-genie.cloud.databricks.com/jobs/789766381784946" TargetMode="External"/><Relationship Id="rId5" Type="http://schemas.openxmlformats.org/officeDocument/2006/relationships/hyperlink" Target="https://fe-sandbox-workshop-nuclea-genie.cloud.databricks.com/explore/data/volumes/workshop_nuclea_genie_catalog/lab_ingestao/landing" TargetMode="External"/><Relationship Id="rId6" Type="http://schemas.openxmlformats.org/officeDocument/2006/relationships/hyperlink" Target="https://fe-sandbox-workshop-nuclea-genie.cloud.databricks.com/explore/data/workshop_nuclea_genie_catalog/lab_ingestao/vw_dq_reconciliacao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fe-sandbox-workshop-nuclea-genie.cloud.databricks.com/ml/experiments/4130931396303721" TargetMode="External"/><Relationship Id="rId4" Type="http://schemas.openxmlformats.org/officeDocument/2006/relationships/hyperlink" Target="https://fe-sandbox-workshop-nuclea-genie.cloud.databricks.com/explore/data/models/workshop_nuclea_genie_catalog/lab_ml/score_inadimplencia_pj" TargetMode="External"/><Relationship Id="rId5" Type="http://schemas.openxmlformats.org/officeDocument/2006/relationships/hyperlink" Target="https://fe-sandbox-workshop-nuclea-genie.cloud.databricks.com/ml/endpoints/nuclea-score-inadimplencia" TargetMode="External"/><Relationship Id="rId6" Type="http://schemas.openxmlformats.org/officeDocument/2006/relationships/hyperlink" Target="https://fe-sandbox-workshop-nuclea-genie.cloud.databricks.com/explore/data/workshop_nuclea_genie_catalog/lab_ml/features_pj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fe-sandbox-workshop-nuclea-genie.cloud.databricks.com/sql/editor" TargetMode="External"/><Relationship Id="rId4" Type="http://schemas.openxmlformats.org/officeDocument/2006/relationships/hyperlink" Target="https://fe-sandbox-workshop-nuclea-genie.cloud.databricks.com/pipelines/96a97249-6bdc-42ce-a7aa-3c98c2543274" TargetMode="External"/><Relationship Id="rId5" Type="http://schemas.openxmlformats.org/officeDocument/2006/relationships/hyperlink" Target="https://fe-sandbox-workshop-nuclea-genie.cloud.databricks.com/explore/data/workshop_nuclea_genie_catalog/lab_ingestao/vw_dq_reconciliacao" TargetMode="External"/><Relationship Id="rId6" Type="http://schemas.openxmlformats.org/officeDocument/2006/relationships/hyperlink" Target="https://fe-sandbox-workshop-nuclea-genie.cloud.databricks.com/explore/data/models/workshop_nuclea_genie_catalog/lab_ml/score_inadimplencia_pj" TargetMode="External"/><Relationship Id="rId7" Type="http://schemas.openxmlformats.org/officeDocument/2006/relationships/hyperlink" Target="https://fe-sandbox-workshop-nuclea-genie.cloud.databricks.com/ml/endpoints/nuclea-score-inadimplencia" TargetMode="External"/><Relationship Id="rId8" Type="http://schemas.openxmlformats.org/officeDocument/2006/relationships/hyperlink" Target="https://fe-sandbox-workshop-nuclea-genie.cloud.databricks.com/explore/data/workshop_nuclea_genie_catalog/lab_credito/carteira_contrato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fe-sandbox-workshop-nuclea-genie.cloud.databricks.com/browse/folders/4130931396303723" TargetMode="External"/><Relationship Id="rId4" Type="http://schemas.openxmlformats.org/officeDocument/2006/relationships/hyperlink" Target="https://fe-sandbox-workshop-nuclea-genie.cloud.databricks.com/browse/folders/4130931396303724" TargetMode="External"/><Relationship Id="rId9" Type="http://schemas.openxmlformats.org/officeDocument/2006/relationships/hyperlink" Target="https://fe-sandbox-workshop-nuclea-genie.cloud.databricks.com/browse/folders/4130931396303733" TargetMode="External"/><Relationship Id="rId5" Type="http://schemas.openxmlformats.org/officeDocument/2006/relationships/hyperlink" Target="https://fe-sandbox-workshop-nuclea-genie.cloud.databricks.com/browse/folders/4130931396303741" TargetMode="External"/><Relationship Id="rId6" Type="http://schemas.openxmlformats.org/officeDocument/2006/relationships/hyperlink" Target="https://fe-sandbox-workshop-nuclea-genie.cloud.databricks.com/browse/folders/4130931396303726" TargetMode="External"/><Relationship Id="rId7" Type="http://schemas.openxmlformats.org/officeDocument/2006/relationships/hyperlink" Target="https://fe-sandbox-workshop-nuclea-genie.cloud.databricks.com/browse/folders/4130931396303753" TargetMode="External"/><Relationship Id="rId8" Type="http://schemas.openxmlformats.org/officeDocument/2006/relationships/hyperlink" Target="https://fe-sandbox-workshop-nuclea-genie.cloud.databricks.com/browse/folders/4130931396303762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hyperlink" Target="https://fe-sandbox-workshop-nuclea-genie.cloud.databricks.com/sql/editor" TargetMode="External"/><Relationship Id="rId10" Type="http://schemas.openxmlformats.org/officeDocument/2006/relationships/hyperlink" Target="https://fe-sandbox-workshop-nuclea-genie.cloud.databricks.com/ml/bricks" TargetMode="External"/><Relationship Id="rId13" Type="http://schemas.openxmlformats.org/officeDocument/2006/relationships/hyperlink" Target="https://fe-sandbox-workshop-nuclea-genie.cloud.databricks.com/explore/data/functions/workshop_nuclea_genie_catalog/lab_credito/resumo_carteira" TargetMode="External"/><Relationship Id="rId12" Type="http://schemas.openxmlformats.org/officeDocument/2006/relationships/hyperlink" Target="https://fe-sandbox-workshop-nuclea-genie.cloud.databricks.com/genie/rooms/01f1cec8e3cd1aa78283808af847fa25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fe-sandbox-workshop-nuclea-genie.cloud.databricks.com/explore/data/workshop_nuclea_genie_catalog/lab_credito/carteira_contratos" TargetMode="External"/><Relationship Id="rId4" Type="http://schemas.openxmlformats.org/officeDocument/2006/relationships/hyperlink" Target="https://fe-sandbox-workshop-nuclea-genie.cloud.databricks.com/explore/data/workshop_nuclea_genie_catalog/lab_credito" TargetMode="External"/><Relationship Id="rId9" Type="http://schemas.openxmlformats.org/officeDocument/2006/relationships/hyperlink" Target="https://fe-sandbox-workshop-nuclea-genie.cloud.databricks.com/genie" TargetMode="External"/><Relationship Id="rId15" Type="http://schemas.openxmlformats.org/officeDocument/2006/relationships/hyperlink" Target="https://fe-sandbox-workshop-nuclea-genie.cloud.databricks.com/explore/data/functions/workshop_nuclea_genie_catalog/lab_credito/evolucao_carteira" TargetMode="External"/><Relationship Id="rId14" Type="http://schemas.openxmlformats.org/officeDocument/2006/relationships/hyperlink" Target="https://fe-sandbox-workshop-nuclea-genie.cloud.databricks.com/explore/data/functions/workshop_nuclea_genie_catalog/lab_credito/quebra_carteira" TargetMode="External"/><Relationship Id="rId17" Type="http://schemas.openxmlformats.org/officeDocument/2006/relationships/hyperlink" Target="https://fe-sandbox-workshop-nuclea-genie.cloud.databricks.com/explore/data/functions/workshop_nuclea_genie_catalog/lab_credito/sinais_alerta" TargetMode="External"/><Relationship Id="rId16" Type="http://schemas.openxmlformats.org/officeDocument/2006/relationships/hyperlink" Target="https://fe-sandbox-workshop-nuclea-genie.cloud.databricks.com/explore/data/functions/workshop_nuclea_genie_catalog/lab_credito/maiores_exposicoes" TargetMode="External"/><Relationship Id="rId5" Type="http://schemas.openxmlformats.org/officeDocument/2006/relationships/hyperlink" Target="https://fe-sandbox-workshop-nuclea-genie.cloud.databricks.com/genie/rooms/01f1ce4e098a187790041796a4dc6ae4" TargetMode="External"/><Relationship Id="rId6" Type="http://schemas.openxmlformats.org/officeDocument/2006/relationships/hyperlink" Target="https://fe-sandbox-workshop-nuclea-genie.cloud.databricks.com/genie/rooms/01f1ce4e0056147289db45f022487b78" TargetMode="External"/><Relationship Id="rId7" Type="http://schemas.openxmlformats.org/officeDocument/2006/relationships/hyperlink" Target="https://fe-sandbox-workshop-nuclea-genie.cloud.databricks.com/genie/rooms/01f1ce4e027b14088e24e6b57f895e12" TargetMode="External"/><Relationship Id="rId8" Type="http://schemas.openxmlformats.org/officeDocument/2006/relationships/hyperlink" Target="https://fe-sandbox-workshop-nuclea-genie.cloud.databricks.com/genie/rooms/01f1ce4e063413fe998b02944c16a758" TargetMode="External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hyperlink" Target="https://fe-sandbox-workshop-nuclea-genie.cloud.databricks.com/genie" TargetMode="External"/><Relationship Id="rId10" Type="http://schemas.openxmlformats.org/officeDocument/2006/relationships/hyperlink" Target="https://fe-sandbox-workshop-nuclea-genie.cloud.databricks.com/explore/data/models/workshop_nuclea_genie_catalog/lab_ml/score_inadimplencia_pj" TargetMode="External"/><Relationship Id="rId12" Type="http://schemas.openxmlformats.org/officeDocument/2006/relationships/hyperlink" Target="https://fe-sandbox-workshop-nuclea-genie.cloud.databricks.com/browse/folders/4130931396303723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fe-sandbox-workshop-nuclea-genie.cloud.databricks.com/explore/data/workshop_nuclea_genie_catalog/lab_credito/carteira_contratos" TargetMode="External"/><Relationship Id="rId4" Type="http://schemas.openxmlformats.org/officeDocument/2006/relationships/hyperlink" Target="https://fe-sandbox-workshop-nuclea-genie.cloud.databricks.com/explore/data/functions/workshop_nuclea_genie_catalog/lab_credito/resumo_carteira" TargetMode="External"/><Relationship Id="rId9" Type="http://schemas.openxmlformats.org/officeDocument/2006/relationships/hyperlink" Target="https://fe-sandbox-workshop-nuclea-genie.cloud.databricks.com/genie/rooms/01f1cec8e3cd1aa78283808af847fa25" TargetMode="External"/><Relationship Id="rId5" Type="http://schemas.openxmlformats.org/officeDocument/2006/relationships/hyperlink" Target="https://fe-sandbox-workshop-nuclea-genie.cloud.databricks.com/explore/data/functions/workshop_nuclea_genie_catalog/lab_credito/quebra_carteira" TargetMode="External"/><Relationship Id="rId6" Type="http://schemas.openxmlformats.org/officeDocument/2006/relationships/hyperlink" Target="https://fe-sandbox-workshop-nuclea-genie.cloud.databricks.com/explore/data/functions/workshop_nuclea_genie_catalog/lab_credito/evolucao_carteira" TargetMode="External"/><Relationship Id="rId7" Type="http://schemas.openxmlformats.org/officeDocument/2006/relationships/hyperlink" Target="https://fe-sandbox-workshop-nuclea-genie.cloud.databricks.com/explore/data/functions/workshop_nuclea_genie_catalog/lab_credito/maiores_exposicoes" TargetMode="External"/><Relationship Id="rId8" Type="http://schemas.openxmlformats.org/officeDocument/2006/relationships/hyperlink" Target="https://fe-sandbox-workshop-nuclea-genie.cloud.databricks.com/explore/data/functions/workshop_nuclea_genie_catalog/lab_credito/sinais_alerta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19.xml"/><Relationship Id="rId4" Type="http://schemas.openxmlformats.org/officeDocument/2006/relationships/slide" Target="/ppt/slides/slide20.xml"/><Relationship Id="rId9" Type="http://schemas.openxmlformats.org/officeDocument/2006/relationships/slide" Target="/ppt/slides/slide28.xml"/><Relationship Id="rId5" Type="http://schemas.openxmlformats.org/officeDocument/2006/relationships/slide" Target="/ppt/slides/slide22.xml"/><Relationship Id="rId6" Type="http://schemas.openxmlformats.org/officeDocument/2006/relationships/slide" Target="/ppt/slides/slide23.xml"/><Relationship Id="rId7" Type="http://schemas.openxmlformats.org/officeDocument/2006/relationships/slide" Target="/ppt/slides/slide25.xml"/><Relationship Id="rId8" Type="http://schemas.openxmlformats.org/officeDocument/2006/relationships/slide" Target="/ppt/slides/slide27.xml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hyperlink" Target="https://fe-sandbox-workshop-nuclea-genie.cloud.databricks.com/genie/rooms/01f1cec8e3cd1aa78283808af847fa25" TargetMode="External"/><Relationship Id="rId10" Type="http://schemas.openxmlformats.org/officeDocument/2006/relationships/hyperlink" Target="https://fe-sandbox-workshop-nuclea-genie.cloud.databricks.com/explore/data/workshop_nuclea_genie_catalog/lab_credito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fe-sandbox-workshop-nuclea-genie.cloud.databricks.com/sql/editor" TargetMode="External"/><Relationship Id="rId4" Type="http://schemas.openxmlformats.org/officeDocument/2006/relationships/slide" Target="/ppt/slides/slide18.xml"/><Relationship Id="rId9" Type="http://schemas.openxmlformats.org/officeDocument/2006/relationships/hyperlink" Target="https://fe-sandbox-workshop-nuclea-genie.cloud.databricks.com/explore/data/models/workshop_nuclea_genie_catalog/lab_ml/score_inadimplencia_pj" TargetMode="External"/><Relationship Id="rId5" Type="http://schemas.openxmlformats.org/officeDocument/2006/relationships/hyperlink" Target="https://fe-sandbox-workshop-nuclea-genie.cloud.databricks.com/genie/rooms/01f1cec8e3cd1aa78283808af847fa25" TargetMode="External"/><Relationship Id="rId6" Type="http://schemas.openxmlformats.org/officeDocument/2006/relationships/hyperlink" Target="https://fe-sandbox-workshop-nuclea-genie.cloud.databricks.com/sql/editor" TargetMode="External"/><Relationship Id="rId7" Type="http://schemas.openxmlformats.org/officeDocument/2006/relationships/hyperlink" Target="https://fe-sandbox-workshop-nuclea-genie.cloud.databricks.com/ml/bricks" TargetMode="External"/><Relationship Id="rId8" Type="http://schemas.openxmlformats.org/officeDocument/2006/relationships/hyperlink" Target="https://fe-sandbox-workshop-nuclea-genie.cloud.databricks.com/pipelines/96a97249-6bdc-42ce-a7aa-3c98c2543274" TargetMode="External"/></Relationships>
</file>

<file path=ppt/slides/_rels/slide20.xml.rels><?xml version="1.0" encoding="UTF-8" standalone="yes"?><Relationships xmlns="http://schemas.openxmlformats.org/package/2006/relationships"><Relationship Id="rId10" Type="http://schemas.openxmlformats.org/officeDocument/2006/relationships/slide" Target="/ppt/slides/slide21.xm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fe-sandbox-workshop-nuclea-genie.cloud.databricks.com/sql/editor" TargetMode="External"/><Relationship Id="rId4" Type="http://schemas.openxmlformats.org/officeDocument/2006/relationships/slide" Target="/ppt/slides/slide18.xml"/><Relationship Id="rId9" Type="http://schemas.openxmlformats.org/officeDocument/2006/relationships/hyperlink" Target="https://fe-sandbox-workshop-nuclea-genie.cloud.databricks.com/explore/data/functions/workshop_nuclea_genie_catalog/lab_credito/sinais_alerta" TargetMode="External"/><Relationship Id="rId5" Type="http://schemas.openxmlformats.org/officeDocument/2006/relationships/hyperlink" Target="https://fe-sandbox-workshop-nuclea-genie.cloud.databricks.com/explore/data/functions/workshop_nuclea_genie_catalog/lab_credito/resumo_carteira" TargetMode="External"/><Relationship Id="rId6" Type="http://schemas.openxmlformats.org/officeDocument/2006/relationships/hyperlink" Target="https://fe-sandbox-workshop-nuclea-genie.cloud.databricks.com/explore/data/functions/workshop_nuclea_genie_catalog/lab_credito/quebra_carteira" TargetMode="External"/><Relationship Id="rId7" Type="http://schemas.openxmlformats.org/officeDocument/2006/relationships/hyperlink" Target="https://fe-sandbox-workshop-nuclea-genie.cloud.databricks.com/explore/data/functions/workshop_nuclea_genie_catalog/lab_credito/evolucao_carteira" TargetMode="External"/><Relationship Id="rId8" Type="http://schemas.openxmlformats.org/officeDocument/2006/relationships/hyperlink" Target="https://fe-sandbox-workshop-nuclea-genie.cloud.databricks.com/explore/data/functions/workshop_nuclea_genie_catalog/lab_credito/maiores_exposicoe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fe-sandbox-workshop-nuclea-genie.cloud.databricks.com/explore/data/workshop_nuclea_genie_catalog/lab_credito" TargetMode="External"/><Relationship Id="rId4" Type="http://schemas.openxmlformats.org/officeDocument/2006/relationships/slide" Target="/ppt/slides/slide18.xml"/><Relationship Id="rId9" Type="http://schemas.openxmlformats.org/officeDocument/2006/relationships/hyperlink" Target="https://fe-sandbox-workshop-nuclea-genie.cloud.databricks.com/explore/data/functions/workshop_nuclea_genie_catalog/lab_credito/sinais_alerta" TargetMode="External"/><Relationship Id="rId5" Type="http://schemas.openxmlformats.org/officeDocument/2006/relationships/hyperlink" Target="https://fe-sandbox-workshop-nuclea-genie.cloud.databricks.com/explore/data/functions/workshop_nuclea_genie_catalog/lab_credito/resumo_carteira" TargetMode="External"/><Relationship Id="rId6" Type="http://schemas.openxmlformats.org/officeDocument/2006/relationships/hyperlink" Target="https://fe-sandbox-workshop-nuclea-genie.cloud.databricks.com/explore/data/functions/workshop_nuclea_genie_catalog/lab_credito/quebra_carteira" TargetMode="External"/><Relationship Id="rId7" Type="http://schemas.openxmlformats.org/officeDocument/2006/relationships/hyperlink" Target="https://fe-sandbox-workshop-nuclea-genie.cloud.databricks.com/explore/data/functions/workshop_nuclea_genie_catalog/lab_credito/evolucao_carteira" TargetMode="External"/><Relationship Id="rId8" Type="http://schemas.openxmlformats.org/officeDocument/2006/relationships/hyperlink" Target="https://fe-sandbox-workshop-nuclea-genie.cloud.databricks.com/explore/data/functions/workshop_nuclea_genie_catalog/lab_credito/maiores_exposicoes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fe-sandbox-workshop-nuclea-genie.cloud.databricks.com/sql/editor" TargetMode="External"/><Relationship Id="rId4" Type="http://schemas.openxmlformats.org/officeDocument/2006/relationships/slide" Target="/ppt/slides/slide18.xml"/></Relationships>
</file>

<file path=ppt/slides/_rels/slide23.xml.rels><?xml version="1.0" encoding="UTF-8" standalone="yes"?><Relationships xmlns="http://schemas.openxmlformats.org/package/2006/relationships"><Relationship Id="rId10" Type="http://schemas.openxmlformats.org/officeDocument/2006/relationships/slide" Target="/ppt/slides/slide24.xm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fe-sandbox-workshop-nuclea-genie.cloud.databricks.com/genie/rooms/01f1cec8e3cd1aa78283808af847fa25" TargetMode="External"/><Relationship Id="rId4" Type="http://schemas.openxmlformats.org/officeDocument/2006/relationships/slide" Target="/ppt/slides/slide18.xml"/><Relationship Id="rId9" Type="http://schemas.openxmlformats.org/officeDocument/2006/relationships/hyperlink" Target="https://fe-sandbox-workshop-nuclea-genie.cloud.databricks.com/explore/data/functions/workshop_nuclea_genie_catalog/lab_credito/sinais_alerta" TargetMode="External"/><Relationship Id="rId5" Type="http://schemas.openxmlformats.org/officeDocument/2006/relationships/hyperlink" Target="https://fe-sandbox-workshop-nuclea-genie.cloud.databricks.com/explore/data/functions/workshop_nuclea_genie_catalog/lab_credito/resumo_carteira" TargetMode="External"/><Relationship Id="rId6" Type="http://schemas.openxmlformats.org/officeDocument/2006/relationships/hyperlink" Target="https://fe-sandbox-workshop-nuclea-genie.cloud.databricks.com/explore/data/functions/workshop_nuclea_genie_catalog/lab_credito/quebra_carteira" TargetMode="External"/><Relationship Id="rId7" Type="http://schemas.openxmlformats.org/officeDocument/2006/relationships/hyperlink" Target="https://fe-sandbox-workshop-nuclea-genie.cloud.databricks.com/explore/data/functions/workshop_nuclea_genie_catalog/lab_credito/evolucao_carteira" TargetMode="External"/><Relationship Id="rId8" Type="http://schemas.openxmlformats.org/officeDocument/2006/relationships/hyperlink" Target="https://fe-sandbox-workshop-nuclea-genie.cloud.databricks.com/explore/data/functions/workshop_nuclea_genie_catalog/lab_credito/maiores_exposicoes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fe-sandbox-workshop-nuclea-genie.cloud.databricks.com/genie/rooms/01f1cec8e3cd1aa78283808af847fa25" TargetMode="External"/><Relationship Id="rId4" Type="http://schemas.openxmlformats.org/officeDocument/2006/relationships/slide" Target="/ppt/slides/slide18.xml"/><Relationship Id="rId5" Type="http://schemas.openxmlformats.org/officeDocument/2006/relationships/hyperlink" Target="https://fe-sandbox-workshop-nuclea-genie.cloud.databricks.com/genie/rooms/01f1cec8e3cd1aa78283808af847fa25" TargetMode="External"/><Relationship Id="rId6" Type="http://schemas.openxmlformats.org/officeDocument/2006/relationships/hyperlink" Target="https://fe-sandbox-workshop-nuclea-genie.cloud.databricks.com/explore/data/functions/workshop_nuclea_genie_catalog/lab_credito/sinais_alerta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fe-sandbox-workshop-nuclea-genie.cloud.databricks.com/ml/bricks" TargetMode="External"/><Relationship Id="rId4" Type="http://schemas.openxmlformats.org/officeDocument/2006/relationships/slide" Target="/ppt/slides/slide18.xml"/><Relationship Id="rId5" Type="http://schemas.openxmlformats.org/officeDocument/2006/relationships/hyperlink" Target="https://fe-sandbox-workshop-nuclea-genie.cloud.databricks.com/genie/rooms/01f1cec8e3cd1aa78283808af847fa25" TargetMode="External"/><Relationship Id="rId6" Type="http://schemas.openxmlformats.org/officeDocument/2006/relationships/hyperlink" Target="https://fe-sandbox-workshop-nuclea-genie.cloud.databricks.com/genie/rooms/01f1ce4e098a187790041796a4dc6ae4" TargetMode="External"/><Relationship Id="rId7" Type="http://schemas.openxmlformats.org/officeDocument/2006/relationships/hyperlink" Target="https://fe-sandbox-workshop-nuclea-genie.cloud.databricks.com/genie/rooms/01f1ce4e0056147289db45f022487b78" TargetMode="External"/><Relationship Id="rId8" Type="http://schemas.openxmlformats.org/officeDocument/2006/relationships/slide" Target="/ppt/slides/slide26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fe-sandbox-workshop-nuclea-genie.cloud.databricks.com/ml/bricks" TargetMode="External"/><Relationship Id="rId4" Type="http://schemas.openxmlformats.org/officeDocument/2006/relationships/slide" Target="/ppt/slides/slide18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fe-sandbox-workshop-nuclea-genie.cloud.databricks.com/explore/data/workshop_nuclea_genie_catalog/lab_credito" TargetMode="External"/><Relationship Id="rId4" Type="http://schemas.openxmlformats.org/officeDocument/2006/relationships/slide" Target="/ppt/slides/slide18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fe-sandbox-workshop-nuclea-genie.cloud.databricks.com/genie/rooms/01f1cec8e3cd1aa78283808af847fa25" TargetMode="External"/><Relationship Id="rId4" Type="http://schemas.openxmlformats.org/officeDocument/2006/relationships/slide" Target="/ppt/slides/slide18.xml"/><Relationship Id="rId5" Type="http://schemas.openxmlformats.org/officeDocument/2006/relationships/hyperlink" Target="https://fe-sandbox-workshop-nuclea-genie.cloud.databricks.com/genie/rooms/01f1cec8e3cd1aa78283808af847fa25" TargetMode="External"/><Relationship Id="rId6" Type="http://schemas.openxmlformats.org/officeDocument/2006/relationships/hyperlink" Target="https://fe-sandbox-workshop-nuclea-genie.cloud.databricks.com/genie/rooms/01f1cec8e3cd1aa78283808af847fa25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20" Type="http://schemas.openxmlformats.org/officeDocument/2006/relationships/hyperlink" Target="https://fe-sandbox-workshop-nuclea-genie.cloud.databricks.com/genie" TargetMode="External"/><Relationship Id="rId11" Type="http://schemas.openxmlformats.org/officeDocument/2006/relationships/hyperlink" Target="https://fe-sandbox-workshop-nuclea-genie.cloud.databricks.com/ml/endpoints/nuclea-score-inadimplencia" TargetMode="External"/><Relationship Id="rId22" Type="http://schemas.openxmlformats.org/officeDocument/2006/relationships/hyperlink" Target="https://fe-sandbox-workshop-nuclea-genie.cloud.databricks.com/browse/folders/4130931396303723" TargetMode="External"/><Relationship Id="rId10" Type="http://schemas.openxmlformats.org/officeDocument/2006/relationships/hyperlink" Target="https://fe-sandbox-workshop-nuclea-genie.cloud.databricks.com/explore/data/models/workshop_nuclea_genie_catalog/lab_ml/score_inadimplencia_pj" TargetMode="External"/><Relationship Id="rId21" Type="http://schemas.openxmlformats.org/officeDocument/2006/relationships/hyperlink" Target="https://fe-sandbox-workshop-nuclea-genie.cloud.databricks.com/ml/bricks" TargetMode="External"/><Relationship Id="rId13" Type="http://schemas.openxmlformats.org/officeDocument/2006/relationships/hyperlink" Target="https://fe-sandbox-workshop-nuclea-genie.cloud.databricks.com/explore/data/workshop_nuclea_genie_catalog/lab_credito" TargetMode="External"/><Relationship Id="rId12" Type="http://schemas.openxmlformats.org/officeDocument/2006/relationships/hyperlink" Target="https://fe-sandbox-workshop-nuclea-genie.cloud.databricks.com/explore/data/workshop_nuclea_genie_catalog/lab_credito/carteira_contratos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fe-sandbox-workshop-nuclea-genie.cloud.databricks.com/explore/data/workshop_nuclea_genie_catalog" TargetMode="External"/><Relationship Id="rId4" Type="http://schemas.openxmlformats.org/officeDocument/2006/relationships/hyperlink" Target="https://fe-sandbox-workshop-nuclea-genie.cloud.databricks.com/pipelines/96a97249-6bdc-42ce-a7aa-3c98c2543274" TargetMode="External"/><Relationship Id="rId9" Type="http://schemas.openxmlformats.org/officeDocument/2006/relationships/hyperlink" Target="https://fe-sandbox-workshop-nuclea-genie.cloud.databricks.com/ml/experiments/4130931396303721" TargetMode="External"/><Relationship Id="rId15" Type="http://schemas.openxmlformats.org/officeDocument/2006/relationships/hyperlink" Target="https://fe-sandbox-workshop-nuclea-genie.cloud.databricks.com/explore/data/functions/workshop_nuclea_genie_catalog/lab_credito/quebra_carteira" TargetMode="External"/><Relationship Id="rId14" Type="http://schemas.openxmlformats.org/officeDocument/2006/relationships/hyperlink" Target="https://fe-sandbox-workshop-nuclea-genie.cloud.databricks.com/explore/data/functions/workshop_nuclea_genie_catalog/lab_credito/resumo_carteira" TargetMode="External"/><Relationship Id="rId17" Type="http://schemas.openxmlformats.org/officeDocument/2006/relationships/hyperlink" Target="https://fe-sandbox-workshop-nuclea-genie.cloud.databricks.com/explore/data/functions/workshop_nuclea_genie_catalog/lab_credito/maiores_exposicoes" TargetMode="External"/><Relationship Id="rId16" Type="http://schemas.openxmlformats.org/officeDocument/2006/relationships/hyperlink" Target="https://fe-sandbox-workshop-nuclea-genie.cloud.databricks.com/explore/data/functions/workshop_nuclea_genie_catalog/lab_credito/evolucao_carteira" TargetMode="External"/><Relationship Id="rId5" Type="http://schemas.openxmlformats.org/officeDocument/2006/relationships/hyperlink" Target="https://fe-sandbox-workshop-nuclea-genie.cloud.databricks.com/jobs/789766381784946" TargetMode="External"/><Relationship Id="rId19" Type="http://schemas.openxmlformats.org/officeDocument/2006/relationships/hyperlink" Target="https://fe-sandbox-workshop-nuclea-genie.cloud.databricks.com/genie/rooms/01f1cec8e3cd1aa78283808af847fa25" TargetMode="External"/><Relationship Id="rId6" Type="http://schemas.openxmlformats.org/officeDocument/2006/relationships/hyperlink" Target="https://fe-sandbox-workshop-nuclea-genie.cloud.databricks.com/explore/data/volumes/workshop_nuclea_genie_catalog/lab_ingestao/landing" TargetMode="External"/><Relationship Id="rId18" Type="http://schemas.openxmlformats.org/officeDocument/2006/relationships/hyperlink" Target="https://fe-sandbox-workshop-nuclea-genie.cloud.databricks.com/explore/data/functions/workshop_nuclea_genie_catalog/lab_credito/sinais_alerta" TargetMode="External"/><Relationship Id="rId7" Type="http://schemas.openxmlformats.org/officeDocument/2006/relationships/hyperlink" Target="https://fe-sandbox-workshop-nuclea-genie.cloud.databricks.com/explore/data/workshop_nuclea_genie_catalog/lab_ingestao/vw_dq_reconciliacao" TargetMode="External"/><Relationship Id="rId8" Type="http://schemas.openxmlformats.org/officeDocument/2006/relationships/hyperlink" Target="https://fe-sandbox-workshop-nuclea-genie.cloud.databricks.com/explore/data/workshop_nuclea_genie_catalog/lab_ml/features_pj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929188" y="-14287"/>
            <a:ext cx="5072100" cy="5172000"/>
          </a:xfrm>
          <a:prstGeom prst="parallelogram">
            <a:avLst>
              <a:gd fmla="val 25000" name="adj"/>
            </a:avLst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514350" y="1071563"/>
            <a:ext cx="42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1" sz="34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14350" y="1357313"/>
            <a:ext cx="44292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Do arquivo</a:t>
            </a:r>
            <a:endParaRPr b="1" sz="42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ao agente</a:t>
            </a:r>
            <a:endParaRPr b="1" sz="42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528638" y="2800350"/>
            <a:ext cx="1571700" cy="642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514350" y="2986088"/>
            <a:ext cx="42864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Agentes especialistas que respondem sobre a carteira de crédito de cada instituição, construídos ao vivo com o Genie Code sobre as bases da Núclea.</a:t>
            </a:r>
            <a:endParaRPr sz="16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14350" y="4286250"/>
            <a:ext cx="4286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Workshop Núclea × Databricks · outubro de 2026 · dados sintéticos</a:t>
            </a:r>
            <a:endParaRPr sz="10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215063" y="1785938"/>
            <a:ext cx="2714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NUCLEA × DATABRICKS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6215063" y="2035969"/>
            <a:ext cx="2714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Foco de hoje: o cliente pergunta, os agentes respondem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O PONTO DE PARTIDA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Os dados existem. O gargalo está em quem sabe usá-los.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514350" y="1285875"/>
            <a:ext cx="2571900" cy="1785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628650" y="1385888"/>
            <a:ext cx="23433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628650" y="1757363"/>
            <a:ext cx="234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alibri"/>
                <a:ea typeface="Calibri"/>
                <a:cs typeface="Calibri"/>
                <a:sym typeface="Calibri"/>
              </a:rPr>
              <a:t>cientista, muitas perguntas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628650" y="1943100"/>
            <a:ext cx="23433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Score, monitoramento e recuperação de crédito dependem de poucas pessoas que conhecem as bases, as regras e as armadilhas.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3257550" y="1285875"/>
            <a:ext cx="2571900" cy="1785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3371850" y="1385888"/>
            <a:ext cx="23433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3371850" y="1757363"/>
            <a:ext cx="234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alibri"/>
                <a:ea typeface="Calibri"/>
                <a:cs typeface="Calibri"/>
                <a:sym typeface="Calibri"/>
              </a:rPr>
              <a:t>domínios, um mesmo CNPJ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3371850" y="1943100"/>
            <a:ext cx="23433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Boletos, cartões, crédito, duplicatas, Pix, risco e cadastro. Cruzar tudo exige saber onde está cada coisa.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6000750" y="1285875"/>
            <a:ext cx="2571900" cy="1785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6115050" y="1385888"/>
            <a:ext cx="23433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Calibri"/>
                <a:ea typeface="Calibri"/>
                <a:cs typeface="Calibri"/>
                <a:sym typeface="Calibri"/>
              </a:rPr>
              <a:t>∞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6115050" y="1757363"/>
            <a:ext cx="234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alibri"/>
                <a:ea typeface="Calibri"/>
                <a:cs typeface="Calibri"/>
                <a:sym typeface="Calibri"/>
              </a:rPr>
              <a:t>perguntas dos clientes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6115050" y="1943100"/>
            <a:ext cx="23433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Cada instituição quer saber da própria carteira, comparada ao mercado, e quer saber agora.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514350" y="3357563"/>
            <a:ext cx="8115300" cy="500100"/>
          </a:xfrm>
          <a:prstGeom prst="rect">
            <a:avLst/>
          </a:prstGeom>
          <a:solidFill>
            <a:srgbClr val="F7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514350" y="3357563"/>
            <a:ext cx="35700" cy="500100"/>
          </a:xfrm>
          <a:prstGeom prst="rect">
            <a:avLst/>
          </a:prstGeom>
          <a:solidFill>
            <a:srgbClr val="6B2F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628650" y="3400425"/>
            <a:ext cx="79296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 pergunta do time Núclea: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quanto podemos ficar menos dependentes da cabeça de um cientista para desenvolver score e produtos de dados?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-857250" y="-14287"/>
            <a:ext cx="4929300" cy="5172000"/>
          </a:xfrm>
          <a:prstGeom prst="parallelogram">
            <a:avLst>
              <a:gd fmla="val 25000" name="adj"/>
            </a:avLst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428625" y="1071563"/>
            <a:ext cx="33576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O CLIENTE PERGUNTA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428625" y="1321594"/>
            <a:ext cx="3214800" cy="23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alibri"/>
                <a:ea typeface="Calibri"/>
                <a:cs typeface="Calibri"/>
                <a:sym typeface="Calibri"/>
              </a:rPr>
              <a:t>“Como está a minha carteira de crédito de empresas do Varejo, pequeno porte, com presença no Sudeste?”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4572000" y="785813"/>
            <a:ext cx="4143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PARA RESPONDER, HOJE, ALGUÉM PRECISA:</a:t>
            </a:r>
            <a:endParaRPr b="1" sz="11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4572000" y="1035844"/>
            <a:ext cx="41433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1. saber que “carteira” está em gravames de recebíveis e que o dono é identificado pelo ISPB;</a:t>
            </a:r>
            <a:endParaRPr sz="13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2. cruzar com o cadastro (porte, setor, UF → região);</a:t>
            </a:r>
            <a:endParaRPr sz="13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3. trazer score, alertas de fraude, boletos vencidos e agenda comprometida;</a:t>
            </a:r>
            <a:endParaRPr sz="13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4. comparar com o mercado e com as safras anteriores;</a:t>
            </a:r>
            <a:endParaRPr sz="13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3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5. garantir que só a carteira daquela instituição aparece.</a:t>
            </a:r>
            <a:endParaRPr sz="13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4572000" y="3500438"/>
            <a:ext cx="4143300" cy="571500"/>
          </a:xfrm>
          <a:prstGeom prst="rect">
            <a:avLst/>
          </a:prstGeom>
          <a:solidFill>
            <a:srgbClr val="EAFF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4572000" y="3500438"/>
            <a:ext cx="35700" cy="571500"/>
          </a:xfrm>
          <a:prstGeom prst="rect">
            <a:avLst/>
          </a:prstGeom>
          <a:solidFill>
            <a:srgbClr val="007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4686300" y="3543300"/>
            <a:ext cx="39576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</a:rPr>
              <a:t>Objetivo de hoje: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que essa pergunta seja respondida por agentes especialistas em segundos, com números conferidos e governança.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O PRODUTO (PROPOSTA DE TRABALHO)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Monitor de Carteira PJ com agentes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514350" y="1214438"/>
            <a:ext cx="47148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A instituição participante pergunta, em linguagem natural, sobre a própria carteira com garantia em recebíveis e recebe um parecer pronto, comparado ao mercado.</a:t>
            </a:r>
            <a:endParaRPr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514350" y="2214563"/>
            <a:ext cx="1464600" cy="71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557213" y="2243138"/>
            <a:ext cx="1378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KPIs vs mercado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saldo, inadimplência, taxa, prazo</a:t>
            </a:r>
            <a:endParaRPr sz="9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2085975" y="2214563"/>
            <a:ext cx="1464600" cy="71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2128838" y="2243138"/>
            <a:ext cx="1378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Safras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originação e inadimplência por mês</a:t>
            </a:r>
            <a:endParaRPr sz="9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3657600" y="2214563"/>
            <a:ext cx="1464600" cy="71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3700463" y="2243138"/>
            <a:ext cx="1378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Concentração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maiores tomadores, UF, setor</a:t>
            </a:r>
            <a:endParaRPr sz="9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514350" y="3071813"/>
            <a:ext cx="1464600" cy="71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57213" y="3100388"/>
            <a:ext cx="1378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Alertas precoces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score em queda, fraude, agenda</a:t>
            </a:r>
            <a:endParaRPr sz="9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2085975" y="3071813"/>
            <a:ext cx="1464600" cy="71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2128838" y="3100388"/>
            <a:ext cx="1378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Score ML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risco futuro de cada tomador</a:t>
            </a:r>
            <a:endParaRPr sz="9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5429250" y="1214438"/>
            <a:ext cx="3214800" cy="2714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643563" y="1357313"/>
            <a:ext cx="2857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TRÊS CANAIS, A MESMA BASE GOVERNADA</a:t>
            </a:r>
            <a:endParaRPr b="1" sz="11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643563" y="1714500"/>
            <a:ext cx="57300" cy="528600"/>
          </a:xfrm>
          <a:prstGeom prst="rect">
            <a:avLst/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86438" y="1714500"/>
            <a:ext cx="2714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App de autoatendimento</a:t>
            </a:r>
            <a:endParaRPr b="1" sz="13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pergunta e parecer com rastro dos agentes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643563" y="2428875"/>
            <a:ext cx="57300" cy="528600"/>
          </a:xfrm>
          <a:prstGeom prst="rect">
            <a:avLst/>
          </a:prstGeom>
          <a:solidFill>
            <a:srgbClr val="CC9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86438" y="2428875"/>
            <a:ext cx="2714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Sala Genie / Supervisor</a:t>
            </a:r>
            <a:endParaRPr b="1" sz="13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exploração em linguagem natural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643563" y="3143250"/>
            <a:ext cx="57300" cy="528600"/>
          </a:xfrm>
          <a:prstGeom prst="rect">
            <a:avLst/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86438" y="3143250"/>
            <a:ext cx="2714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API e Delta Sharing</a:t>
            </a:r>
            <a:endParaRPr b="1" sz="13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indicadores e score dentro dos modelos do cliente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14350" y="4214813"/>
            <a:ext cx="8115300" cy="357300"/>
          </a:xfrm>
          <a:prstGeom prst="rect">
            <a:avLst/>
          </a:prstGeom>
          <a:solidFill>
            <a:srgbClr val="F7F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14350" y="4214813"/>
            <a:ext cx="35700" cy="357300"/>
          </a:xfrm>
          <a:prstGeom prst="rect">
            <a:avLst/>
          </a:prstGeom>
          <a:solidFill>
            <a:srgbClr val="5E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28650" y="4257675"/>
            <a:ext cx="7929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Atenção: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nome de trabalho e proposta para discussão, não é produto oficial da Núclea.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QUEM COMPRA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Quatro segmentos, uma mesma infraestrutura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514350" y="1250156"/>
            <a:ext cx="1928700" cy="24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628650" y="1371600"/>
            <a:ext cx="285900" cy="285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6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628650" y="1714500"/>
            <a:ext cx="17145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alibri"/>
                <a:ea typeface="Calibri"/>
                <a:cs typeface="Calibri"/>
                <a:sym typeface="Calibri"/>
              </a:rPr>
              <a:t>IPs e cooperativas de crédito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628650" y="2171700"/>
            <a:ext cx="17145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60 IPs (R$ 1,10 bi) e 15 cooperativas (R$ 883 mi) em aberto. Em geral, sem time grande de ciência de dados.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628650" y="3186113"/>
            <a:ext cx="1700100" cy="385800"/>
          </a:xfrm>
          <a:prstGeom prst="roundRect">
            <a:avLst>
              <a:gd fmla="val 16667" name="adj"/>
            </a:avLst>
          </a:prstGeom>
          <a:solidFill>
            <a:srgbClr val="007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Autoatendimento com agentes</a:t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2557463" y="1250156"/>
            <a:ext cx="1928700" cy="24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2671763" y="1371600"/>
            <a:ext cx="285900" cy="285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6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2671763" y="1714500"/>
            <a:ext cx="17145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alibri"/>
                <a:ea typeface="Calibri"/>
                <a:cs typeface="Calibri"/>
                <a:sym typeface="Calibri"/>
              </a:rPr>
              <a:t>Bancos comerciais e múltiplos médios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2671763" y="2171700"/>
            <a:ext cx="17145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40 comerciais (R$ 213 mi) e 20 múltiplos (R$ 892 mi).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2671763" y="3186113"/>
            <a:ext cx="1700100" cy="385800"/>
          </a:xfrm>
          <a:prstGeom prst="roundRect">
            <a:avLst>
              <a:gd fmla="val 16667" name="adj"/>
            </a:avLst>
          </a:prstGeom>
          <a:solidFill>
            <a:srgbClr val="6B2F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Parecer + benchmark para o comitê</a:t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4600575" y="1250156"/>
            <a:ext cx="1928700" cy="24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4714875" y="1371600"/>
            <a:ext cx="285900" cy="285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6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4714875" y="1714500"/>
            <a:ext cx="17145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alibri"/>
                <a:ea typeface="Calibri"/>
                <a:cs typeface="Calibri"/>
                <a:sym typeface="Calibri"/>
              </a:rPr>
              <a:t>Grandes bancos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4714875" y="2171700"/>
            <a:ext cx="17145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Consomem indicadores e score dentro dos próprios modelos.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4714875" y="3186113"/>
            <a:ext cx="1700100" cy="385800"/>
          </a:xfrm>
          <a:prstGeom prst="roundRect">
            <a:avLst>
              <a:gd fmla="val 16667" name="adj"/>
            </a:avLst>
          </a:prstGeom>
          <a:solidFill>
            <a:srgbClr val="5E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e Delta Sharing</a:t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6643688" y="1250156"/>
            <a:ext cx="1928700" cy="24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6757988" y="1371600"/>
            <a:ext cx="285900" cy="2859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6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757988" y="1714500"/>
            <a:ext cx="17145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alibri"/>
                <a:ea typeface="Calibri"/>
                <a:cs typeface="Calibri"/>
                <a:sym typeface="Calibri"/>
              </a:rPr>
              <a:t>FIDCs, securitizadoras e credenciadoras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6757988" y="2171700"/>
            <a:ext cx="17145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Monitoram o lastro de recebíveis cedidos (C3) e a agenda comprometida.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757988" y="3186113"/>
            <a:ext cx="1700100" cy="385800"/>
          </a:xfrm>
          <a:prstGeom prst="roundRect">
            <a:avLst>
              <a:gd fmla="val 16667" name="adj"/>
            </a:avLst>
          </a:prstGeom>
          <a:solidFill>
            <a:srgbClr val="0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Monitoramento de lastro</a:t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14350" y="3857625"/>
            <a:ext cx="8115300" cy="428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85800" y="3893344"/>
            <a:ext cx="7858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No dado do workshop: </a:t>
            </a: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135 instituições financiadoras · R$ 3,08 bi de carteira em aberto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O VALOR</a:t>
            </a:r>
            <a:endParaRPr b="1" sz="10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Por que só a Núclea pode oferecer isso</a:t>
            </a:r>
            <a:endParaRPr b="1" sz="22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14350" y="1250156"/>
            <a:ext cx="2571900" cy="17859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42938" y="1343025"/>
            <a:ext cx="2357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53,8%</a:t>
            </a:r>
            <a:endParaRPr b="1" sz="24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42938" y="1714500"/>
            <a:ext cx="2357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dos tomadores têm crédito em mais de uma instituição</a:t>
            </a:r>
            <a:endParaRPr b="1" sz="12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642938" y="2085975"/>
            <a:ext cx="23574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Cada banco vê só a sua parte. A Núclea, como infraestrutura de registro, vê o tomador inteiro.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3257550" y="1250156"/>
            <a:ext cx="2571900" cy="17859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3386138" y="1343025"/>
            <a:ext cx="2357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4,02% × 4,64%</a:t>
            </a:r>
            <a:endParaRPr b="1" sz="24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3386138" y="1714500"/>
            <a:ext cx="2357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benchmark de mercado anônimo</a:t>
            </a:r>
            <a:endParaRPr b="1" sz="12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3386138" y="2085975"/>
            <a:ext cx="23574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A instituição se compara ao mercado sem expor dados de concorrentes.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6000750" y="1250156"/>
            <a:ext cx="2571900" cy="17859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129338" y="1343025"/>
            <a:ext cx="2357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R$ 944,8 mi</a:t>
            </a:r>
            <a:endParaRPr b="1" sz="24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6129338" y="1714500"/>
            <a:ext cx="2357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de saldo ativo com sinal de deterioração</a:t>
            </a:r>
            <a:endParaRPr b="1" sz="12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6129338" y="2085975"/>
            <a:ext cx="23574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Em 5.707 tomadores (de R$ 2,84 bi ativos). Ainda dá para agir antes da perda; já materializados: R$ 241 mi.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514350" y="3214688"/>
            <a:ext cx="42900" cy="785700"/>
          </a:xfrm>
          <a:prstGeom prst="rect">
            <a:avLst/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42938" y="3214688"/>
            <a:ext cx="2428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Tempo</a:t>
            </a:r>
            <a:endParaRPr b="1" sz="13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análise de dias de um cientista → segundos, com números conferidos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3257550" y="3214688"/>
            <a:ext cx="42900" cy="785700"/>
          </a:xfrm>
          <a:prstGeom prst="rect">
            <a:avLst/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3386138" y="3214688"/>
            <a:ext cx="2428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Governança</a:t>
            </a:r>
            <a:endParaRPr b="1" sz="13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cada instituição vê só a própria carteira e os agregados, tudo no Unity Catalog e auditado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6000750" y="3214688"/>
            <a:ext cx="42900" cy="785700"/>
          </a:xfrm>
          <a:prstGeom prst="rect">
            <a:avLst/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129338" y="3214688"/>
            <a:ext cx="2428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Modelo comercial (proposta)</a:t>
            </a:r>
            <a:endParaRPr b="1" sz="13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assinatura por ISPB em tiers (autoatendimento, API, Delta Sharing) e consumo por parecer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514350" y="4286250"/>
            <a:ext cx="8115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Sinal de deterioração = score caiu ≥ 50 pontos, faixa D/E, alerta de fraude ou agenda ≥ 90% comprometida. Dados sintéticos do workshop.</a:t>
            </a:r>
            <a:endParaRPr sz="10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O AMBIENTE QUE TEMOS</a:t>
            </a:r>
            <a:endParaRPr b="1" sz="10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Um workspace, uma plataforma, um catálogo governado</a:t>
            </a:r>
            <a:endParaRPr b="1" sz="22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514350" y="1271588"/>
            <a:ext cx="8115300" cy="3285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42938" y="1300163"/>
            <a:ext cx="78582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QUEM USA   </a:t>
            </a: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Cientistas e engenheiros · Analistas de risco · Instituições participantes · Genie Code (agente da plataforma)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14350" y="1714500"/>
            <a:ext cx="1086000" cy="885900"/>
          </a:xfrm>
          <a:prstGeom prst="roundRect">
            <a:avLst>
              <a:gd fmla="val 16667" name="adj"/>
            </a:avLst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542925" y="1743075"/>
            <a:ext cx="1028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Genie Code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alibri"/>
                <a:ea typeface="Calibri"/>
                <a:cs typeface="Calibri"/>
                <a:sym typeface="Calibri"/>
              </a:rPr>
              <a:t>agente no notebook, SQL, pipelines e dashboards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1685925" y="1714500"/>
            <a:ext cx="1086000" cy="8859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67F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1714500" y="1743075"/>
            <a:ext cx="1028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Lakeflow</a:t>
            </a:r>
            <a:endParaRPr b="1" sz="12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Auto Loader, pipelines, jobs</a:t>
            </a:r>
            <a:endParaRPr sz="95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2857500" y="1714500"/>
            <a:ext cx="1086000" cy="8859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67F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2886075" y="1743075"/>
            <a:ext cx="1028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1" sz="12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warehouse serverless, UC functions</a:t>
            </a:r>
            <a:endParaRPr sz="95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4029075" y="1714500"/>
            <a:ext cx="1086000" cy="8859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67F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4057650" y="1743075"/>
            <a:ext cx="1028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MLflow + Serving</a:t>
            </a:r>
            <a:endParaRPr b="1" sz="12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modelos no UC, endpoints</a:t>
            </a:r>
            <a:endParaRPr sz="95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200650" y="1714500"/>
            <a:ext cx="1086000" cy="8859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67F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5229225" y="1743075"/>
            <a:ext cx="1028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Genie</a:t>
            </a:r>
            <a:endParaRPr b="1" sz="12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salas por base, Agents e Supervisor</a:t>
            </a:r>
            <a:endParaRPr sz="95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6372225" y="1714500"/>
            <a:ext cx="1086000" cy="8859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67F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400800" y="1743075"/>
            <a:ext cx="1028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Apps</a:t>
            </a:r>
            <a:endParaRPr b="1" sz="12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Flask, autoatendimento</a:t>
            </a:r>
            <a:endParaRPr sz="95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7543800" y="1714500"/>
            <a:ext cx="1086000" cy="8859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67F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7572375" y="1743075"/>
            <a:ext cx="1028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Lakebase</a:t>
            </a:r>
            <a:endParaRPr b="1" sz="12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Postgres: estado e auditoria</a:t>
            </a:r>
            <a:endParaRPr sz="95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514350" y="2700338"/>
            <a:ext cx="8115300" cy="314400"/>
          </a:xfrm>
          <a:prstGeom prst="roundRect">
            <a:avLst>
              <a:gd fmla="val 16667" name="adj"/>
            </a:avLst>
          </a:prstGeom>
          <a:solidFill>
            <a:srgbClr val="0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642938" y="2714625"/>
            <a:ext cx="7858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COMPUTE SERVERLESS   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sem dimensionar cluster · liga sob demanda · paga pelo uso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514350" y="3114675"/>
            <a:ext cx="8115300" cy="400200"/>
          </a:xfrm>
          <a:prstGeom prst="roundRect">
            <a:avLst>
              <a:gd fmla="val 16667" name="adj"/>
            </a:avLst>
          </a:prstGeom>
          <a:solidFill>
            <a:srgbClr val="CC9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42938" y="3143250"/>
            <a:ext cx="785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UNITY CATALOG  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permissões · linhagem · tabelas, volumes, funções, modelos e agentes no mesmo lugar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514350" y="3614738"/>
            <a:ext cx="8115300" cy="4002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DBED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42938" y="3643313"/>
            <a:ext cx="785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workshop_nuclea_genie_catalog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 7 schemas de origem (sintéticos) · labs: lab_ingestao · lab_ml · lab_credito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OS DADOS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7 domínios · 18 tabelas · 5,2 milhões de linhas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514350" y="1285875"/>
            <a:ext cx="1928700" cy="12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628650" y="1400175"/>
            <a:ext cx="785700" cy="185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cadastro</a:t>
            </a:r>
            <a:endParaRPr b="1" sz="11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628650" y="1657350"/>
            <a:ext cx="17145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50 mil empresas PJ (porte, setor, UF) · 150 participantes (ISPB) · calendário · incidentes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2557463" y="1285875"/>
            <a:ext cx="1928700" cy="12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2671763" y="1400175"/>
            <a:ext cx="785700" cy="185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cartoes</a:t>
            </a:r>
            <a:endParaRPr b="1" sz="11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2671763" y="1657350"/>
            <a:ext cx="17145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516 mil unidades de recebíveis · 409 mil liquidações SLC · 60 mil gravames (crédito)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4600575" y="1285875"/>
            <a:ext cx="1928700" cy="12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4714875" y="1400175"/>
            <a:ext cx="785700" cy="185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boletos</a:t>
            </a:r>
            <a:endParaRPr b="1" sz="11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4714875" y="1657350"/>
            <a:ext cx="17145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1 milhão de registros PCR · 696 mil baixas · 58 mil posições SILOC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643688" y="1285875"/>
            <a:ext cx="1928700" cy="12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6757988" y="1400175"/>
            <a:ext cx="785700" cy="185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duplicatas</a:t>
            </a:r>
            <a:endParaRPr b="1" sz="11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6757988" y="1657350"/>
            <a:ext cx="17145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406 mil duplicatas escriturais · 1,09 milhão de eventos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14350" y="2643188"/>
            <a:ext cx="1928700" cy="12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628650" y="2757488"/>
            <a:ext cx="785700" cy="185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credito</a:t>
            </a:r>
            <a:endParaRPr b="1" sz="11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628650" y="3014663"/>
            <a:ext cx="17145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50 mil cessões C3 · 75 mil portabilidades CTC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2557463" y="2643188"/>
            <a:ext cx="1928700" cy="12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2671763" y="2757488"/>
            <a:ext cx="785700" cy="185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pix</a:t>
            </a:r>
            <a:endParaRPr b="1" sz="11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2671763" y="3014663"/>
            <a:ext cx="17145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123 mil autorizações Pix Automático · 334 mil cobranças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4600575" y="2643188"/>
            <a:ext cx="1928700" cy="12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4714875" y="2757488"/>
            <a:ext cx="785700" cy="185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risco</a:t>
            </a:r>
            <a:endParaRPr b="1" sz="11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4714875" y="3014663"/>
            <a:ext cx="17145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302 mil consultas de score PJ · 14,8 mil alertas de fraude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6643688" y="2643188"/>
            <a:ext cx="1928700" cy="12288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757988" y="2757488"/>
            <a:ext cx="1714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Período: </a:t>
            </a: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abr a set/2026</a:t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Referência: </a:t>
            </a: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30/09/2026</a:t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" sz="11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Tudo sintético</a:t>
            </a: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imitando as bases reais</a:t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514350" y="4572000"/>
            <a:ext cx="81153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Explorar no workspace: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catálogo workshop_nuclea_genie_catalog</a:t>
            </a:r>
            <a:endParaRPr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COMO OS DADOS SE CONECTAM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Duas chaves ligam tudo: CNPJ e ISPB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21"/>
          <p:cNvCxnSpPr/>
          <p:nvPr/>
        </p:nvCxnSpPr>
        <p:spPr>
          <a:xfrm rot="10800000">
            <a:off x="1785863" y="1786013"/>
            <a:ext cx="1571700" cy="1285800"/>
          </a:xfrm>
          <a:prstGeom prst="straightConnector1">
            <a:avLst/>
          </a:prstGeom>
          <a:noFill/>
          <a:ln cap="flat" cmpd="sng" w="19050">
            <a:solidFill>
              <a:srgbClr val="BDBD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1"/>
          <p:cNvCxnSpPr/>
          <p:nvPr/>
        </p:nvCxnSpPr>
        <p:spPr>
          <a:xfrm rot="10800000">
            <a:off x="1785863" y="2571713"/>
            <a:ext cx="1571700" cy="500100"/>
          </a:xfrm>
          <a:prstGeom prst="straightConnector1">
            <a:avLst/>
          </a:prstGeom>
          <a:noFill/>
          <a:ln cap="flat" cmpd="sng" w="19050">
            <a:solidFill>
              <a:srgbClr val="BDBD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1"/>
          <p:cNvCxnSpPr/>
          <p:nvPr/>
        </p:nvCxnSpPr>
        <p:spPr>
          <a:xfrm flipH="1">
            <a:off x="1785863" y="3071813"/>
            <a:ext cx="1571700" cy="285900"/>
          </a:xfrm>
          <a:prstGeom prst="straightConnector1">
            <a:avLst/>
          </a:prstGeom>
          <a:noFill/>
          <a:ln cap="flat" cmpd="sng" w="19050">
            <a:solidFill>
              <a:srgbClr val="BDBD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1"/>
          <p:cNvCxnSpPr/>
          <p:nvPr/>
        </p:nvCxnSpPr>
        <p:spPr>
          <a:xfrm flipH="1">
            <a:off x="1785863" y="3071813"/>
            <a:ext cx="1571700" cy="1071600"/>
          </a:xfrm>
          <a:prstGeom prst="straightConnector1">
            <a:avLst/>
          </a:prstGeom>
          <a:noFill/>
          <a:ln cap="flat" cmpd="sng" w="19050">
            <a:solidFill>
              <a:srgbClr val="BDBD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1"/>
          <p:cNvCxnSpPr/>
          <p:nvPr/>
        </p:nvCxnSpPr>
        <p:spPr>
          <a:xfrm flipH="1" rot="10800000">
            <a:off x="3357563" y="1786013"/>
            <a:ext cx="1643100" cy="1285800"/>
          </a:xfrm>
          <a:prstGeom prst="straightConnector1">
            <a:avLst/>
          </a:prstGeom>
          <a:noFill/>
          <a:ln cap="flat" cmpd="sng" w="19050">
            <a:solidFill>
              <a:srgbClr val="BDBD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1"/>
          <p:cNvCxnSpPr/>
          <p:nvPr/>
        </p:nvCxnSpPr>
        <p:spPr>
          <a:xfrm rot="10800000">
            <a:off x="5000550" y="1786013"/>
            <a:ext cx="2143200" cy="1285800"/>
          </a:xfrm>
          <a:prstGeom prst="straightConnector1">
            <a:avLst/>
          </a:prstGeom>
          <a:noFill/>
          <a:ln cap="flat" cmpd="sng" w="19050">
            <a:solidFill>
              <a:srgbClr val="BDBDB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1"/>
          <p:cNvCxnSpPr/>
          <p:nvPr/>
        </p:nvCxnSpPr>
        <p:spPr>
          <a:xfrm>
            <a:off x="3357563" y="3071813"/>
            <a:ext cx="1643100" cy="1214400"/>
          </a:xfrm>
          <a:prstGeom prst="straightConnector1">
            <a:avLst/>
          </a:prstGeom>
          <a:noFill/>
          <a:ln cap="flat" cmpd="sng" w="19050">
            <a:solidFill>
              <a:srgbClr val="BDBD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21"/>
          <p:cNvCxnSpPr/>
          <p:nvPr/>
        </p:nvCxnSpPr>
        <p:spPr>
          <a:xfrm flipH="1">
            <a:off x="5000550" y="3071813"/>
            <a:ext cx="2143200" cy="1214400"/>
          </a:xfrm>
          <a:prstGeom prst="straightConnector1">
            <a:avLst/>
          </a:prstGeom>
          <a:noFill/>
          <a:ln cap="flat" cmpd="sng" w="19050">
            <a:solidFill>
              <a:srgbClr val="BDBDB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21"/>
          <p:cNvCxnSpPr/>
          <p:nvPr/>
        </p:nvCxnSpPr>
        <p:spPr>
          <a:xfrm flipH="1" rot="10800000">
            <a:off x="7143750" y="1786013"/>
            <a:ext cx="1071600" cy="1285800"/>
          </a:xfrm>
          <a:prstGeom prst="straightConnector1">
            <a:avLst/>
          </a:prstGeom>
          <a:noFill/>
          <a:ln cap="flat" cmpd="sng" w="19050">
            <a:solidFill>
              <a:srgbClr val="BDBDB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21"/>
          <p:cNvCxnSpPr/>
          <p:nvPr/>
        </p:nvCxnSpPr>
        <p:spPr>
          <a:xfrm>
            <a:off x="7143750" y="3071813"/>
            <a:ext cx="1071600" cy="1214400"/>
          </a:xfrm>
          <a:prstGeom prst="straightConnector1">
            <a:avLst/>
          </a:prstGeom>
          <a:noFill/>
          <a:ln cap="flat" cmpd="sng" w="19050">
            <a:solidFill>
              <a:srgbClr val="BDBDB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1" name="Google Shape;271;p21"/>
          <p:cNvSpPr/>
          <p:nvPr/>
        </p:nvSpPr>
        <p:spPr>
          <a:xfrm>
            <a:off x="2714625" y="2428875"/>
            <a:ext cx="1285800" cy="12858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2714625" y="2714625"/>
            <a:ext cx="1285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CNPJ</a:t>
            </a:r>
            <a:endParaRPr b="1" sz="24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empresas_pj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porte · setor · UF</a:t>
            </a:r>
            <a:endParaRPr sz="10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6586538" y="2514600"/>
            <a:ext cx="1114500" cy="1114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6586538" y="2786063"/>
            <a:ext cx="1114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ISPB</a:t>
            </a:r>
            <a:endParaRPr b="1" sz="24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participantes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428625" y="1585913"/>
            <a:ext cx="1357200" cy="4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471488" y="1614488"/>
            <a:ext cx="1271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risco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consultas · alertas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428625" y="2371725"/>
            <a:ext cx="1357200" cy="4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471488" y="2400300"/>
            <a:ext cx="1271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boletos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registro · baixas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428625" y="3157538"/>
            <a:ext cx="1357200" cy="4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471488" y="3186113"/>
            <a:ext cx="1271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duplicatas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sacador · sacado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428625" y="3943350"/>
            <a:ext cx="1357200" cy="4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471488" y="3971925"/>
            <a:ext cx="1271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pix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recebedor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4286250" y="1585913"/>
            <a:ext cx="1428900" cy="400200"/>
          </a:xfrm>
          <a:prstGeom prst="roundRect">
            <a:avLst>
              <a:gd fmla="val 16667" name="adj"/>
            </a:avLst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4329113" y="1614488"/>
            <a:ext cx="134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cartoes · gravames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titular × financiador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4286250" y="4086225"/>
            <a:ext cx="1428900" cy="400200"/>
          </a:xfrm>
          <a:prstGeom prst="roundRect">
            <a:avLst>
              <a:gd fmla="val 16667" name="adj"/>
            </a:avLst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4329113" y="4114800"/>
            <a:ext cx="134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cartoes · UR / SLC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recebedor × credenciadora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7572375" y="1585913"/>
            <a:ext cx="1357200" cy="4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7615238" y="1614488"/>
            <a:ext cx="1271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credito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C3 cedente · CTC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7572375" y="4086225"/>
            <a:ext cx="1357200" cy="4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7615238" y="4114800"/>
            <a:ext cx="1271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boletos · SILOC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posições por ISPB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21"/>
          <p:cNvCxnSpPr/>
          <p:nvPr/>
        </p:nvCxnSpPr>
        <p:spPr>
          <a:xfrm>
            <a:off x="6143625" y="4772025"/>
            <a:ext cx="285900" cy="0"/>
          </a:xfrm>
          <a:prstGeom prst="straightConnector1">
            <a:avLst/>
          </a:prstGeom>
          <a:noFill/>
          <a:ln cap="flat" cmpd="sng" w="19050">
            <a:solidFill>
              <a:srgbClr val="BDBD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1"/>
          <p:cNvSpPr txBox="1"/>
          <p:nvPr/>
        </p:nvSpPr>
        <p:spPr>
          <a:xfrm>
            <a:off x="6472238" y="4686300"/>
            <a:ext cx="8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liga por CNPJ</a:t>
            </a:r>
            <a:endParaRPr sz="10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21"/>
          <p:cNvCxnSpPr/>
          <p:nvPr/>
        </p:nvCxnSpPr>
        <p:spPr>
          <a:xfrm>
            <a:off x="7358063" y="4772025"/>
            <a:ext cx="285900" cy="0"/>
          </a:xfrm>
          <a:prstGeom prst="straightConnector1">
            <a:avLst/>
          </a:prstGeom>
          <a:noFill/>
          <a:ln cap="flat" cmpd="sng" w="19050">
            <a:solidFill>
              <a:srgbClr val="BDBDB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4" name="Google Shape;294;p21"/>
          <p:cNvSpPr txBox="1"/>
          <p:nvPr/>
        </p:nvSpPr>
        <p:spPr>
          <a:xfrm>
            <a:off x="7686675" y="4686300"/>
            <a:ext cx="8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liga por ISPB</a:t>
            </a:r>
            <a:endParaRPr sz="10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COMO CHEGAMOS AQUI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Arquitetura de ponta a ponta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285750" y="1257300"/>
            <a:ext cx="4000500" cy="185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ATO 1 · INGESTÃO  +  ATO 2 · QUALIDADE</a:t>
            </a:r>
            <a:endParaRPr b="1" sz="10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4400550" y="1257300"/>
            <a:ext cx="2143200" cy="185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ATO 3 · SCORE EM TEMPO REAL</a:t>
            </a:r>
            <a:endParaRPr b="1" sz="10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6657975" y="1257300"/>
            <a:ext cx="2200200" cy="185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ATO 4 · AGENTES (AO VIVO)</a:t>
            </a:r>
            <a:endParaRPr b="1" sz="10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285750" y="1643063"/>
            <a:ext cx="785700" cy="4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328613" y="1671638"/>
            <a:ext cx="700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Volume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3 formatos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1357313" y="1643063"/>
            <a:ext cx="785700" cy="428700"/>
          </a:xfrm>
          <a:prstGeom prst="roundRect">
            <a:avLst>
              <a:gd fmla="val 16667" name="adj"/>
            </a:avLst>
          </a:prstGeom>
          <a:solidFill>
            <a:srgbClr val="0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1400175" y="1671638"/>
            <a:ext cx="700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Bronze</a:t>
            </a:r>
            <a:endParaRPr b="1" sz="10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Auto Loader</a:t>
            </a:r>
            <a:endParaRPr sz="85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2428875" y="1643063"/>
            <a:ext cx="785700" cy="428700"/>
          </a:xfrm>
          <a:prstGeom prst="roundRect">
            <a:avLst>
              <a:gd fmla="val 16667" name="adj"/>
            </a:avLst>
          </a:prstGeom>
          <a:solidFill>
            <a:srgbClr val="0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2471738" y="1671638"/>
            <a:ext cx="700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Silver</a:t>
            </a:r>
            <a:endParaRPr b="1" sz="10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regras de DQ</a:t>
            </a:r>
            <a:endParaRPr sz="85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3500438" y="1643063"/>
            <a:ext cx="785700" cy="428700"/>
          </a:xfrm>
          <a:prstGeom prst="roundRect">
            <a:avLst>
              <a:gd fmla="val 16667" name="adj"/>
            </a:avLst>
          </a:prstGeom>
          <a:solidFill>
            <a:srgbClr val="0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3543300" y="1671638"/>
            <a:ext cx="700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Gold</a:t>
            </a:r>
            <a:endParaRPr b="1" sz="10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posição diária</a:t>
            </a:r>
            <a:endParaRPr sz="85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2357438" y="2228850"/>
            <a:ext cx="928800" cy="285900"/>
          </a:xfrm>
          <a:prstGeom prst="roundRect">
            <a:avLst>
              <a:gd fmla="val 16667" name="adj"/>
            </a:avLst>
          </a:prstGeom>
          <a:solidFill>
            <a:srgbClr val="F7FAD9"/>
          </a:solidFill>
          <a:ln cap="flat" cmpd="sng" w="19050">
            <a:solidFill>
              <a:srgbClr val="5E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2400300" y="2257425"/>
            <a:ext cx="8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Quarentena</a:t>
            </a:r>
            <a:endParaRPr b="1" sz="1000">
              <a:solidFill>
                <a:srgbClr val="5E66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285750" y="2228850"/>
            <a:ext cx="2000100" cy="285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328613" y="2257425"/>
            <a:ext cx="19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event log · views de DQ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22"/>
          <p:cNvCxnSpPr/>
          <p:nvPr/>
        </p:nvCxnSpPr>
        <p:spPr>
          <a:xfrm>
            <a:off x="1071563" y="1857375"/>
            <a:ext cx="285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22"/>
          <p:cNvCxnSpPr/>
          <p:nvPr/>
        </p:nvCxnSpPr>
        <p:spPr>
          <a:xfrm>
            <a:off x="2143125" y="1857375"/>
            <a:ext cx="285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22"/>
          <p:cNvCxnSpPr/>
          <p:nvPr/>
        </p:nvCxnSpPr>
        <p:spPr>
          <a:xfrm>
            <a:off x="3214688" y="1857375"/>
            <a:ext cx="285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22"/>
          <p:cNvCxnSpPr/>
          <p:nvPr/>
        </p:nvCxnSpPr>
        <p:spPr>
          <a:xfrm>
            <a:off x="2821781" y="2071688"/>
            <a:ext cx="0" cy="1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22"/>
          <p:cNvSpPr/>
          <p:nvPr/>
        </p:nvSpPr>
        <p:spPr>
          <a:xfrm>
            <a:off x="2428875" y="2786063"/>
            <a:ext cx="1357200" cy="4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2471738" y="2814638"/>
            <a:ext cx="1271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carteira_contratos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contrato enriquecido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4857750" y="2143125"/>
            <a:ext cx="1428900" cy="428700"/>
          </a:xfrm>
          <a:prstGeom prst="roundRect">
            <a:avLst>
              <a:gd fmla="val 16667" name="adj"/>
            </a:avLst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4900613" y="2171700"/>
            <a:ext cx="1343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features_pj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latin typeface="Calibri"/>
                <a:ea typeface="Calibri"/>
                <a:cs typeface="Calibri"/>
                <a:sym typeface="Calibri"/>
              </a:rPr>
              <a:t>1 linha por CNPJ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4857750" y="2786063"/>
            <a:ext cx="1428900" cy="428700"/>
          </a:xfrm>
          <a:prstGeom prst="roundRect">
            <a:avLst>
              <a:gd fmla="val 16667" name="adj"/>
            </a:avLst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"/>
          <p:cNvSpPr txBox="1"/>
          <p:nvPr/>
        </p:nvSpPr>
        <p:spPr>
          <a:xfrm>
            <a:off x="4900613" y="2814638"/>
            <a:ext cx="1343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LightGBM @champion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latin typeface="Calibri"/>
                <a:ea typeface="Calibri"/>
                <a:cs typeface="Calibri"/>
                <a:sym typeface="Calibri"/>
              </a:rPr>
              <a:t>MLflow + Unity Catalog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4857750" y="3429000"/>
            <a:ext cx="1428900" cy="428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4900613" y="3457575"/>
            <a:ext cx="1343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Endpoint · score_cnpj</a:t>
            </a:r>
            <a:endParaRPr b="1" sz="10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~250 ms</a:t>
            </a:r>
            <a:endParaRPr sz="85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6858000" y="2714625"/>
            <a:ext cx="2000100" cy="57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2"/>
          <p:cNvSpPr txBox="1"/>
          <p:nvPr/>
        </p:nvSpPr>
        <p:spPr>
          <a:xfrm>
            <a:off x="6900863" y="2743200"/>
            <a:ext cx="1914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UC functions = especialistas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resumo · quebra · safras · exposições · alertas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6858000" y="3429000"/>
            <a:ext cx="2000100" cy="428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"/>
          <p:cNvSpPr txBox="1"/>
          <p:nvPr/>
        </p:nvSpPr>
        <p:spPr>
          <a:xfrm>
            <a:off x="6900863" y="3457575"/>
            <a:ext cx="1914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Orquestrador de agentes</a:t>
            </a:r>
            <a:endParaRPr b="1" sz="10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+ salas Genie (investigador)</a:t>
            </a:r>
            <a:endParaRPr sz="85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22"/>
          <p:cNvCxnSpPr/>
          <p:nvPr/>
        </p:nvCxnSpPr>
        <p:spPr>
          <a:xfrm>
            <a:off x="3893344" y="2071688"/>
            <a:ext cx="0" cy="285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22"/>
          <p:cNvCxnSpPr/>
          <p:nvPr/>
        </p:nvCxnSpPr>
        <p:spPr>
          <a:xfrm>
            <a:off x="3893344" y="2357438"/>
            <a:ext cx="950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" name="Google Shape;337;p22"/>
          <p:cNvCxnSpPr/>
          <p:nvPr/>
        </p:nvCxnSpPr>
        <p:spPr>
          <a:xfrm>
            <a:off x="3357563" y="2071688"/>
            <a:ext cx="0" cy="70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" name="Google Shape;338;p22"/>
          <p:cNvCxnSpPr/>
          <p:nvPr/>
        </p:nvCxnSpPr>
        <p:spPr>
          <a:xfrm>
            <a:off x="5572125" y="2571750"/>
            <a:ext cx="0" cy="20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" name="Google Shape;339;p22"/>
          <p:cNvCxnSpPr/>
          <p:nvPr/>
        </p:nvCxnSpPr>
        <p:spPr>
          <a:xfrm>
            <a:off x="5572125" y="3214688"/>
            <a:ext cx="0" cy="20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" name="Google Shape;340;p22"/>
          <p:cNvCxnSpPr/>
          <p:nvPr/>
        </p:nvCxnSpPr>
        <p:spPr>
          <a:xfrm>
            <a:off x="3786188" y="3000375"/>
            <a:ext cx="305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" name="Google Shape;341;p22"/>
          <p:cNvCxnSpPr/>
          <p:nvPr/>
        </p:nvCxnSpPr>
        <p:spPr>
          <a:xfrm>
            <a:off x="6286500" y="3643313"/>
            <a:ext cx="557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" name="Google Shape;342;p22"/>
          <p:cNvCxnSpPr/>
          <p:nvPr/>
        </p:nvCxnSpPr>
        <p:spPr>
          <a:xfrm>
            <a:off x="7858125" y="3286125"/>
            <a:ext cx="0" cy="128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" name="Google Shape;343;p22"/>
          <p:cNvSpPr/>
          <p:nvPr/>
        </p:nvSpPr>
        <p:spPr>
          <a:xfrm>
            <a:off x="6858000" y="4000500"/>
            <a:ext cx="628800" cy="285900"/>
          </a:xfrm>
          <a:prstGeom prst="roundRect">
            <a:avLst>
              <a:gd fmla="val 16667" name="adj"/>
            </a:avLst>
          </a:prstGeom>
          <a:solidFill>
            <a:srgbClr val="CC9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App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7543800" y="4000500"/>
            <a:ext cx="628800" cy="285900"/>
          </a:xfrm>
          <a:prstGeom prst="roundRect">
            <a:avLst>
              <a:gd fmla="val 16667" name="adj"/>
            </a:avLst>
          </a:prstGeom>
          <a:solidFill>
            <a:srgbClr val="CC9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Genie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8229600" y="4000500"/>
            <a:ext cx="628800" cy="285900"/>
          </a:xfrm>
          <a:prstGeom prst="roundRect">
            <a:avLst>
              <a:gd fmla="val 16667" name="adj"/>
            </a:avLst>
          </a:prstGeom>
          <a:solidFill>
            <a:srgbClr val="CC9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Agents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22"/>
          <p:cNvCxnSpPr/>
          <p:nvPr/>
        </p:nvCxnSpPr>
        <p:spPr>
          <a:xfrm>
            <a:off x="7858125" y="3857625"/>
            <a:ext cx="0" cy="128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22"/>
          <p:cNvSpPr/>
          <p:nvPr/>
        </p:nvSpPr>
        <p:spPr>
          <a:xfrm>
            <a:off x="285750" y="4000500"/>
            <a:ext cx="6429300" cy="285900"/>
          </a:xfrm>
          <a:prstGeom prst="roundRect">
            <a:avLst>
              <a:gd fmla="val 16667" name="adj"/>
            </a:avLst>
          </a:prstGeom>
          <a:solidFill>
            <a:srgbClr val="0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400050" y="4014788"/>
            <a:ext cx="62151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Unity Catalog</a:t>
            </a: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governa tudo · </a:t>
            </a:r>
            <a:r>
              <a:rPr b="1" lang="en" sz="12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serverless</a:t>
            </a: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em todas as etapas · </a:t>
            </a: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Genie Code</a:t>
            </a: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constrói cada peça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3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3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ATOS 1 E 2 · JÁ PRONTOS</a:t>
            </a:r>
            <a:endParaRPr b="1" sz="10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Os dados chegam, e dá para confiar neles</a:t>
            </a:r>
            <a:endParaRPr b="1" sz="22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3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514350" y="1271588"/>
            <a:ext cx="1928700" cy="13572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3"/>
          <p:cNvSpPr txBox="1"/>
          <p:nvPr/>
        </p:nvSpPr>
        <p:spPr>
          <a:xfrm>
            <a:off x="628650" y="1371600"/>
            <a:ext cx="1714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2,26 mi</a:t>
            </a:r>
            <a:endParaRPr b="1" sz="26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 txBox="1"/>
          <p:nvPr/>
        </p:nvSpPr>
        <p:spPr>
          <a:xfrm>
            <a:off x="628650" y="1743075"/>
            <a:ext cx="1714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linhas em 6 lotes (CSV, JSON, Parquet) via Auto Loader, sem reprocessar arquivos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2557463" y="1271588"/>
            <a:ext cx="1928700" cy="13572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3"/>
          <p:cNvSpPr txBox="1"/>
          <p:nvPr/>
        </p:nvSpPr>
        <p:spPr>
          <a:xfrm>
            <a:off x="2671763" y="1371600"/>
            <a:ext cx="1714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+1 coluna</a:t>
            </a:r>
            <a:endParaRPr b="1" sz="26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2671763" y="1743075"/>
            <a:ext cx="1714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mudança de layout no lote 6 absorvida sozinha pelo pipeline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4600575" y="1271588"/>
            <a:ext cx="1928700" cy="13572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3"/>
          <p:cNvSpPr txBox="1"/>
          <p:nvPr/>
        </p:nvSpPr>
        <p:spPr>
          <a:xfrm>
            <a:off x="4714875" y="1371600"/>
            <a:ext cx="1714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19/19</a:t>
            </a:r>
            <a:endParaRPr b="1" sz="26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4714875" y="1743075"/>
            <a:ext cx="1714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reconciliações entidade × lote conferem: bronze = silver + quarentena + duplicadas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6643688" y="1271588"/>
            <a:ext cx="1928700" cy="13572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6757988" y="1371600"/>
            <a:ext cx="1714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2.031</a:t>
            </a:r>
            <a:endParaRPr b="1" sz="26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 txBox="1"/>
          <p:nvPr/>
        </p:nvSpPr>
        <p:spPr>
          <a:xfrm>
            <a:off x="6757988" y="1743075"/>
            <a:ext cx="1714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registros em quarentena, todos com o motivo da rejeição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514350" y="2843213"/>
            <a:ext cx="3000300" cy="1143000"/>
          </a:xfrm>
          <a:prstGeom prst="roundRect">
            <a:avLst>
              <a:gd fmla="val 16667" name="adj"/>
            </a:avLst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3"/>
          <p:cNvSpPr txBox="1"/>
          <p:nvPr/>
        </p:nvSpPr>
        <p:spPr>
          <a:xfrm>
            <a:off x="685800" y="2928938"/>
            <a:ext cx="27147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3.965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baixas com divergência de beneficiário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3714750" y="2928938"/>
            <a:ext cx="49293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Não era erro injetado: são </a:t>
            </a:r>
            <a:r>
              <a:rPr b="1" lang="en" sz="17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boletos pagos a terceiros, ou seja, adulterados</a:t>
            </a:r>
            <a:r>
              <a:rPr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Uma regra de qualidade virou um </a:t>
            </a:r>
            <a:r>
              <a:rPr b="1" lang="en" sz="17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sinal de fraude</a:t>
            </a:r>
            <a:r>
              <a:rPr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medido a cada carga, e é uma das entradas do agente de alerta precoce.</a:t>
            </a:r>
            <a:endParaRPr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514350" y="4143375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Como foi feito: 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Genie Code no notebook e no Lakeflow Pipelines Editor, com as skills @nuclea-ingestao-massiva e @nuclea-data-quality.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" sz="12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Abrir: </a:t>
            </a: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pipeline nuclea_lab_ingestao_dq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job de orquestração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volume landing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vw_dq_reconciliacao</a:t>
            </a:r>
            <a:endParaRPr sz="1200" u="sng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4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4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ATO 3 · JÁ PRONTO</a:t>
            </a:r>
            <a:endParaRPr b="1" sz="10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Do CNPJ ao score em cerca de 250 ms</a:t>
            </a:r>
            <a:endParaRPr b="1" sz="22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514350" y="1271588"/>
            <a:ext cx="1928700" cy="12144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628650" y="1371600"/>
            <a:ext cx="1714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~250 ms</a:t>
            </a:r>
            <a:endParaRPr b="1" sz="24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 txBox="1"/>
          <p:nvPr/>
        </p:nvSpPr>
        <p:spPr>
          <a:xfrm>
            <a:off x="628650" y="1743075"/>
            <a:ext cx="1714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latência p50 do endpoint serverless (p95 ~295 ms)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2557463" y="1271588"/>
            <a:ext cx="1928700" cy="12144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2671763" y="1371600"/>
            <a:ext cx="1714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0,65</a:t>
            </a:r>
            <a:endParaRPr b="1" sz="24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"/>
          <p:cNvSpPr txBox="1"/>
          <p:nvPr/>
        </p:nvSpPr>
        <p:spPr>
          <a:xfrm>
            <a:off x="2671763" y="1743075"/>
            <a:ext cx="1714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AUC no holdout · KS 0,23 · lift 2,6x no top 10%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4600575" y="1271588"/>
            <a:ext cx="1928700" cy="12144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4"/>
          <p:cNvSpPr txBox="1"/>
          <p:nvPr/>
        </p:nvSpPr>
        <p:spPr>
          <a:xfrm>
            <a:off x="4714875" y="1371600"/>
            <a:ext cx="1714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0,49 × 0,14</a:t>
            </a:r>
            <a:endParaRPr b="1" sz="24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4"/>
          <p:cNvSpPr txBox="1"/>
          <p:nvPr/>
        </p:nvSpPr>
        <p:spPr>
          <a:xfrm>
            <a:off x="4714875" y="1743075"/>
            <a:ext cx="1714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prob. média de inadimplentes contra adimplentes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6643688" y="1271588"/>
            <a:ext cx="1928700" cy="12144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6757988" y="1371600"/>
            <a:ext cx="1714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@champion</a:t>
            </a:r>
            <a:endParaRPr b="1" sz="24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 txBox="1"/>
          <p:nvPr/>
        </p:nvSpPr>
        <p:spPr>
          <a:xfrm>
            <a:off x="6757988" y="1743075"/>
            <a:ext cx="1714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modelo versionado no Unity Catalog, com inference table</a:t>
            </a:r>
            <a:endParaRPr sz="11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514350" y="2714625"/>
            <a:ext cx="8115300" cy="6429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685800" y="2771775"/>
            <a:ext cx="78582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7FFCC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lab_ml.score_cnpj('05.657.016/0001-95');</a:t>
            </a:r>
            <a:endParaRPr>
              <a:solidFill>
                <a:srgbClr val="67FF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DDDDD"/>
                </a:solidFill>
                <a:latin typeface="Roboto Mono"/>
                <a:ea typeface="Roboto Mono"/>
                <a:cs typeface="Roboto Mono"/>
                <a:sym typeface="Roboto Mono"/>
              </a:rPr>
              <a:t>→ prob_inadimplencia 0,994 · score 6 · faixa </a:t>
            </a:r>
            <a:r>
              <a:rPr b="1" lang="en">
                <a:solidFill>
                  <a:srgbClr val="DBED1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endParaRPr b="1">
              <a:solidFill>
                <a:srgbClr val="DBED1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7" name="Google Shape;397;p24"/>
          <p:cNvSpPr txBox="1"/>
          <p:nvPr/>
        </p:nvSpPr>
        <p:spPr>
          <a:xfrm>
            <a:off x="514350" y="3536156"/>
            <a:ext cx="81153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O score virou uma função governada: </a:t>
            </a:r>
            <a:r>
              <a:rPr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quem tem EXECUTE usa no SQL, na sala Genie, no app e, no Ato 4, como ferramenta do Agente Score ML.</a:t>
            </a:r>
            <a:endParaRPr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4"/>
          <p:cNvSpPr txBox="1"/>
          <p:nvPr/>
        </p:nvSpPr>
        <p:spPr>
          <a:xfrm>
            <a:off x="514350" y="4086225"/>
            <a:ext cx="8115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Abrir: </a:t>
            </a: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experimento MLflow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modelo score_inadimplencia_pj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endpoint nuclea-score-inadimplencia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features_pj</a:t>
            </a:r>
            <a:endParaRPr sz="1200" u="sng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 txBox="1"/>
          <p:nvPr/>
        </p:nvSpPr>
        <p:spPr>
          <a:xfrm>
            <a:off x="514350" y="4429125"/>
            <a:ext cx="8115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Dados sintéticos e sinal moderado: a probabilidade serve como ranking; para PD regulatória, é preciso calibrar.</a:t>
            </a:r>
            <a:endParaRPr sz="11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5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COMO CHEGAMOS AQUI · MOSTRAR, NÃO CONSTRUIR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5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Três consultas para provar que a base está pronta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5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5"/>
          <p:cNvSpPr txBox="1"/>
          <p:nvPr/>
        </p:nvSpPr>
        <p:spPr>
          <a:xfrm>
            <a:off x="514350" y="1143000"/>
            <a:ext cx="81153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Onde clicar: </a:t>
            </a: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SQL editor (warehouse Serverless Starter Warehouse)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 ·   abrir: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sql editor</a:t>
            </a:r>
            <a:endParaRPr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5"/>
          <p:cNvSpPr/>
          <p:nvPr/>
        </p:nvSpPr>
        <p:spPr>
          <a:xfrm>
            <a:off x="514350" y="1400175"/>
            <a:ext cx="4000500" cy="10002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5"/>
          <p:cNvSpPr txBox="1"/>
          <p:nvPr/>
        </p:nvSpPr>
        <p:spPr>
          <a:xfrm>
            <a:off x="614363" y="1443038"/>
            <a:ext cx="38004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ATOS 1 E 2 · SQL EDITOR ›</a:t>
            </a:r>
            <a:endParaRPr b="1" sz="8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SELECT entidade, lote, confere</a:t>
            </a:r>
            <a:endParaRPr sz="9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FROM workshop_nuclea_genie_catalog.lab_ingestao.vw_dq_reconciliacao</a:t>
            </a:r>
            <a:endParaRPr sz="9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ORDER BY entidade, lote;</a:t>
            </a:r>
            <a:endParaRPr sz="9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2" name="Google Shape;412;p25"/>
          <p:cNvSpPr txBox="1"/>
          <p:nvPr/>
        </p:nvSpPr>
        <p:spPr>
          <a:xfrm>
            <a:off x="514350" y="2443163"/>
            <a:ext cx="4000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Fala: </a:t>
            </a:r>
            <a:r>
              <a:rPr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“2,26 milhões de linhas, 19 de 19 lotes conferidos, e a regra de qualidade achou 3.965 boletos adulterados.”</a:t>
            </a:r>
            <a:endParaRPr sz="11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4629150" y="1400175"/>
            <a:ext cx="4000500" cy="10002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5"/>
          <p:cNvSpPr txBox="1"/>
          <p:nvPr/>
        </p:nvSpPr>
        <p:spPr>
          <a:xfrm>
            <a:off x="4729163" y="1443038"/>
            <a:ext cx="38004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ATO 3 · SQL EDITOR ›</a:t>
            </a:r>
            <a:endParaRPr b="1" sz="8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SELECT *</a:t>
            </a:r>
            <a:endParaRPr sz="9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FROM workshop_nuclea_genie_catalog.lab_ml</a:t>
            </a:r>
            <a:endParaRPr sz="9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     .score_cnpj('05.657.016/0001-95');</a:t>
            </a:r>
            <a:endParaRPr sz="9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5" name="Google Shape;415;p25"/>
          <p:cNvSpPr txBox="1"/>
          <p:nvPr/>
        </p:nvSpPr>
        <p:spPr>
          <a:xfrm>
            <a:off x="4629150" y="2443163"/>
            <a:ext cx="4000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Fala: </a:t>
            </a:r>
            <a:r>
              <a:rPr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“O modelo virou uma função governada: cerca de 250 ms e o mesmo controle de acesso.”</a:t>
            </a:r>
            <a:endParaRPr sz="11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5"/>
          <p:cNvSpPr/>
          <p:nvPr/>
        </p:nvSpPr>
        <p:spPr>
          <a:xfrm>
            <a:off x="514350" y="2900363"/>
            <a:ext cx="5000700" cy="7143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5"/>
          <p:cNvSpPr txBox="1"/>
          <p:nvPr/>
        </p:nvSpPr>
        <p:spPr>
          <a:xfrm>
            <a:off x="614363" y="2943225"/>
            <a:ext cx="48006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JÁ PRONTO DO ATO 4 · SQL EDITOR ›</a:t>
            </a:r>
            <a:endParaRPr b="1" sz="8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workshop_nuclea_genie_catalog.lab_credito.resumo_carteira(</a:t>
            </a:r>
            <a:endParaRPr sz="90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  '42691787', 'Varejo', 'Pequeno', 'Sudeste');</a:t>
            </a:r>
            <a:endParaRPr sz="90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8" name="Google Shape;418;p25"/>
          <p:cNvSpPr/>
          <p:nvPr/>
        </p:nvSpPr>
        <p:spPr>
          <a:xfrm>
            <a:off x="5643563" y="2900363"/>
            <a:ext cx="2986200" cy="714300"/>
          </a:xfrm>
          <a:prstGeom prst="rect">
            <a:avLst/>
          </a:prstGeom>
          <a:solidFill>
            <a:srgbClr val="EAFF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5"/>
          <p:cNvSpPr/>
          <p:nvPr/>
        </p:nvSpPr>
        <p:spPr>
          <a:xfrm>
            <a:off x="5643563" y="2900363"/>
            <a:ext cx="35700" cy="714300"/>
          </a:xfrm>
          <a:prstGeom prst="rect">
            <a:avLst/>
          </a:prstGeom>
          <a:solidFill>
            <a:srgbClr val="007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5"/>
          <p:cNvSpPr txBox="1"/>
          <p:nvPr/>
        </p:nvSpPr>
        <p:spPr>
          <a:xfrm>
            <a:off x="5757863" y="2943225"/>
            <a:ext cx="2800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</a:rPr>
              <a:t>Esperado: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minha carteira 622 contratos, R$ 27,92 mi, 4,02%; mercado 6.258, R$ 260,33 mi, 4,64%.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 txBox="1"/>
          <p:nvPr/>
        </p:nvSpPr>
        <p:spPr>
          <a:xfrm>
            <a:off x="514350" y="3714750"/>
            <a:ext cx="81153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Abrir: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pipeline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vw_dq_reconciliacao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modelo @champion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endpoint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carteira_contratos</a:t>
            </a:r>
            <a:endParaRPr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5"/>
          <p:cNvSpPr txBox="1"/>
          <p:nvPr/>
        </p:nvSpPr>
        <p:spPr>
          <a:xfrm>
            <a:off x="514350" y="4107656"/>
            <a:ext cx="81153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Fala de transição: </a:t>
            </a: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“Já temos um especialista. Agora vamos criar o time inteiro.”</a:t>
            </a:r>
            <a:endParaRPr sz="13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6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6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O SEGREDO DA DEMO</a:t>
            </a:r>
            <a:endParaRPr b="1" sz="10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A cabeça do cientista, empacotada em skills</a:t>
            </a:r>
            <a:endParaRPr b="1" sz="22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6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514350" y="1571625"/>
            <a:ext cx="1857300" cy="15717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CC9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6"/>
          <p:cNvSpPr txBox="1"/>
          <p:nvPr/>
        </p:nvSpPr>
        <p:spPr>
          <a:xfrm>
            <a:off x="628650" y="1657350"/>
            <a:ext cx="1686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Conhecimento</a:t>
            </a:r>
            <a:endParaRPr b="1" sz="15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regras de negócio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armadilhas dos dados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anti-vazamento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números de referência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" name="Google Shape;434;p26"/>
          <p:cNvCxnSpPr/>
          <p:nvPr/>
        </p:nvCxnSpPr>
        <p:spPr>
          <a:xfrm>
            <a:off x="2428875" y="2357438"/>
            <a:ext cx="428700" cy="0"/>
          </a:xfrm>
          <a:prstGeom prst="straightConnector1">
            <a:avLst/>
          </a:prstGeom>
          <a:noFill/>
          <a:ln cap="flat" cmpd="sng" w="38100">
            <a:solidFill>
              <a:srgbClr val="DBED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26"/>
          <p:cNvSpPr/>
          <p:nvPr/>
        </p:nvSpPr>
        <p:spPr>
          <a:xfrm>
            <a:off x="2914650" y="1357313"/>
            <a:ext cx="2714700" cy="2000100"/>
          </a:xfrm>
          <a:prstGeom prst="roundRect">
            <a:avLst>
              <a:gd fmla="val 16667" name="adj"/>
            </a:avLst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6"/>
          <p:cNvSpPr txBox="1"/>
          <p:nvPr/>
        </p:nvSpPr>
        <p:spPr>
          <a:xfrm>
            <a:off x="3057525" y="1457325"/>
            <a:ext cx="25002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6 skills (SKILL.md)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@nuclea-contexto-dados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@nuclea-ingestao-massiva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@nuclea-data-quality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@nuclea-model-serving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@nuclea-monitoramento-credito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@nuclea-identidade-visual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p26"/>
          <p:cNvCxnSpPr/>
          <p:nvPr/>
        </p:nvCxnSpPr>
        <p:spPr>
          <a:xfrm>
            <a:off x="5686425" y="2357438"/>
            <a:ext cx="428700" cy="0"/>
          </a:xfrm>
          <a:prstGeom prst="straightConnector1">
            <a:avLst/>
          </a:prstGeom>
          <a:noFill/>
          <a:ln cap="flat" cmpd="sng" w="38100">
            <a:solidFill>
              <a:srgbClr val="DBED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8" name="Google Shape;438;p26"/>
          <p:cNvSpPr/>
          <p:nvPr/>
        </p:nvSpPr>
        <p:spPr>
          <a:xfrm>
            <a:off x="6172200" y="1571625"/>
            <a:ext cx="2457600" cy="15717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67F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6"/>
          <p:cNvSpPr txBox="1"/>
          <p:nvPr/>
        </p:nvSpPr>
        <p:spPr>
          <a:xfrm>
            <a:off x="6286500" y="1657350"/>
            <a:ext cx="2286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Genie Code executa</a:t>
            </a:r>
            <a:endParaRPr b="1" sz="15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planeja, escreve, roda e corrige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no notebook, SQL editor, pipelines, Genie e dashboards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com as permissões do usuário no UC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6"/>
          <p:cNvSpPr txBox="1"/>
          <p:nvPr/>
        </p:nvSpPr>
        <p:spPr>
          <a:xfrm>
            <a:off x="514350" y="4000500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Abrir: </a:t>
            </a: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pasta de skills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@nuclea-contexto-dados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@nuclea-ingestao-massiva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@nuclea-data-quality</a:t>
            </a:r>
            <a:endParaRPr sz="1200" u="sng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@nuclea-model-serving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@nuclea-monitoramento-credito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@nuclea-identidade-visual</a:t>
            </a:r>
            <a:endParaRPr sz="1200" u="sng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6"/>
          <p:cNvSpPr txBox="1"/>
          <p:nvPr/>
        </p:nvSpPr>
        <p:spPr>
          <a:xfrm>
            <a:off x="514350" y="3500438"/>
            <a:ext cx="81153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Ficam em </a:t>
            </a:r>
            <a:r>
              <a:rPr lang="en" sz="1500">
                <a:solidFill>
                  <a:srgbClr val="67FFCC"/>
                </a:solidFill>
                <a:latin typeface="Roboto Mono"/>
                <a:ea typeface="Roboto Mono"/>
                <a:cs typeface="Roboto Mono"/>
                <a:sym typeface="Roboto Mono"/>
              </a:rPr>
              <a:t>.assistant/skills</a:t>
            </a:r>
            <a:r>
              <a:rPr lang="en" sz="15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no workspace. Invocam-se com </a:t>
            </a:r>
            <a:r>
              <a:rPr b="1" lang="en" sz="15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@nome</a:t>
            </a:r>
            <a:r>
              <a:rPr lang="en" sz="15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, ou o Genie Code as carrega sozinho. </a:t>
            </a:r>
            <a:r>
              <a:rPr b="1" lang="en" sz="15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Escreve-se uma vez e reaplica-se sempre.</a:t>
            </a:r>
            <a:endParaRPr b="1" sz="15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7"/>
          <p:cNvSpPr/>
          <p:nvPr/>
        </p:nvSpPr>
        <p:spPr>
          <a:xfrm>
            <a:off x="5429250" y="-14287"/>
            <a:ext cx="4572000" cy="5172000"/>
          </a:xfrm>
          <a:prstGeom prst="parallelogram">
            <a:avLst>
              <a:gd fmla="val 25000" name="adj"/>
            </a:avLst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7"/>
          <p:cNvSpPr txBox="1"/>
          <p:nvPr/>
        </p:nvSpPr>
        <p:spPr>
          <a:xfrm>
            <a:off x="514350" y="1428750"/>
            <a:ext cx="714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ATO 4</a:t>
            </a:r>
            <a:endParaRPr b="1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7"/>
          <p:cNvSpPr txBox="1"/>
          <p:nvPr/>
        </p:nvSpPr>
        <p:spPr>
          <a:xfrm>
            <a:off x="514350" y="1685925"/>
            <a:ext cx="50007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O cliente pergunta,</a:t>
            </a:r>
            <a:endParaRPr b="1" sz="34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os agentes respondem</a:t>
            </a:r>
            <a:endParaRPr b="1" sz="34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7"/>
          <p:cNvSpPr/>
          <p:nvPr/>
        </p:nvSpPr>
        <p:spPr>
          <a:xfrm>
            <a:off x="528638" y="2986088"/>
            <a:ext cx="1571700" cy="642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7"/>
          <p:cNvSpPr txBox="1"/>
          <p:nvPr/>
        </p:nvSpPr>
        <p:spPr>
          <a:xfrm>
            <a:off x="514350" y="3186113"/>
            <a:ext cx="4572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Agora, ao vivo: vamos terminar o time de agentes especialistas usando só o Genie Code, na interface do Databricks.</a:t>
            </a:r>
            <a:endParaRPr sz="16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7"/>
          <p:cNvSpPr txBox="1"/>
          <p:nvPr/>
        </p:nvSpPr>
        <p:spPr>
          <a:xfrm>
            <a:off x="6643688" y="1928813"/>
            <a:ext cx="2286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alibri"/>
                <a:ea typeface="Calibri"/>
                <a:cs typeface="Calibri"/>
                <a:sym typeface="Calibri"/>
              </a:rPr>
              <a:t>AO VIVO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600">
                <a:latin typeface="Calibri"/>
                <a:ea typeface="Calibri"/>
                <a:cs typeface="Calibri"/>
                <a:sym typeface="Calibri"/>
              </a:rPr>
              <a:t>≈ 25 min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600">
                <a:latin typeface="Calibri"/>
                <a:ea typeface="Calibri"/>
                <a:cs typeface="Calibri"/>
                <a:sym typeface="Calibri"/>
              </a:rPr>
              <a:t>6 passos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8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8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ATO 4 · ARQUITETURA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8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Um time de agentes especialistas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8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285750" y="1257300"/>
            <a:ext cx="5286300" cy="400200"/>
          </a:xfrm>
          <a:prstGeom prst="roundRect">
            <a:avLst>
              <a:gd fmla="val 16667" name="adj"/>
            </a:avLst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8"/>
          <p:cNvSpPr txBox="1"/>
          <p:nvPr/>
        </p:nvSpPr>
        <p:spPr>
          <a:xfrm>
            <a:off x="400050" y="1271588"/>
            <a:ext cx="5072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alibri"/>
                <a:ea typeface="Calibri"/>
                <a:cs typeface="Calibri"/>
                <a:sym typeface="Calibri"/>
              </a:rPr>
              <a:t>Instituição (o ISPB vem do login, nunca do LLM)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“Como está a minha carteira de Varejo, pequeno porte, no Sudeste?”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28"/>
          <p:cNvCxnSpPr/>
          <p:nvPr/>
        </p:nvCxnSpPr>
        <p:spPr>
          <a:xfrm>
            <a:off x="2928938" y="1657350"/>
            <a:ext cx="0" cy="21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4" name="Google Shape;464;p28"/>
          <p:cNvSpPr/>
          <p:nvPr/>
        </p:nvSpPr>
        <p:spPr>
          <a:xfrm>
            <a:off x="1428750" y="1871663"/>
            <a:ext cx="3000300" cy="5001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8"/>
          <p:cNvSpPr txBox="1"/>
          <p:nvPr/>
        </p:nvSpPr>
        <p:spPr>
          <a:xfrm>
            <a:off x="1528763" y="1885950"/>
            <a:ext cx="2829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Orquestrador (LLM)</a:t>
            </a:r>
            <a:endParaRPr b="1" sz="13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planeja · chama em paralelo · redige o parecer</a:t>
            </a:r>
            <a:endParaRPr sz="10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6" name="Google Shape;466;p28"/>
          <p:cNvCxnSpPr/>
          <p:nvPr/>
        </p:nvCxnSpPr>
        <p:spPr>
          <a:xfrm flipH="1">
            <a:off x="771638" y="2371725"/>
            <a:ext cx="2157300" cy="25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7" name="Google Shape;467;p28"/>
          <p:cNvSpPr/>
          <p:nvPr/>
        </p:nvSpPr>
        <p:spPr>
          <a:xfrm>
            <a:off x="285750" y="2643188"/>
            <a:ext cx="1000200" cy="7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8"/>
          <p:cNvSpPr txBox="1"/>
          <p:nvPr/>
        </p:nvSpPr>
        <p:spPr>
          <a:xfrm>
            <a:off x="328613" y="2671763"/>
            <a:ext cx="914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📊 Carteir</a:t>
            </a: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resumo × mercado · quebra · safra</a:t>
            </a: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0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9" name="Google Shape;469;p28"/>
          <p:cNvCxnSpPr/>
          <p:nvPr/>
        </p:nvCxnSpPr>
        <p:spPr>
          <a:xfrm flipH="1">
            <a:off x="1843238" y="2371725"/>
            <a:ext cx="1085700" cy="25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0" name="Google Shape;470;p28"/>
          <p:cNvSpPr/>
          <p:nvPr/>
        </p:nvSpPr>
        <p:spPr>
          <a:xfrm>
            <a:off x="1357313" y="2643188"/>
            <a:ext cx="1000200" cy="7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8"/>
          <p:cNvSpPr txBox="1"/>
          <p:nvPr/>
        </p:nvSpPr>
        <p:spPr>
          <a:xfrm>
            <a:off x="1400175" y="2671763"/>
            <a:ext cx="914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🎯 Exposiçã</a:t>
            </a: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maiores tomadores · % da carteir</a:t>
            </a: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0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28"/>
          <p:cNvCxnSpPr/>
          <p:nvPr/>
        </p:nvCxnSpPr>
        <p:spPr>
          <a:xfrm flipH="1">
            <a:off x="2914538" y="2371725"/>
            <a:ext cx="14400" cy="25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" name="Google Shape;473;p28"/>
          <p:cNvSpPr/>
          <p:nvPr/>
        </p:nvSpPr>
        <p:spPr>
          <a:xfrm>
            <a:off x="2428875" y="2643188"/>
            <a:ext cx="1000200" cy="7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8"/>
          <p:cNvSpPr txBox="1"/>
          <p:nvPr/>
        </p:nvSpPr>
        <p:spPr>
          <a:xfrm>
            <a:off x="2471738" y="2671763"/>
            <a:ext cx="914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🚨 Alert</a:t>
            </a: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score em queda · fraude · agend</a:t>
            </a: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0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28"/>
          <p:cNvCxnSpPr/>
          <p:nvPr/>
        </p:nvCxnSpPr>
        <p:spPr>
          <a:xfrm>
            <a:off x="2928938" y="2371725"/>
            <a:ext cx="1057200" cy="25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6" name="Google Shape;476;p28"/>
          <p:cNvSpPr/>
          <p:nvPr/>
        </p:nvSpPr>
        <p:spPr>
          <a:xfrm>
            <a:off x="3500438" y="2643188"/>
            <a:ext cx="1000200" cy="7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8"/>
          <p:cNvSpPr txBox="1"/>
          <p:nvPr/>
        </p:nvSpPr>
        <p:spPr>
          <a:xfrm>
            <a:off x="3543300" y="2671763"/>
            <a:ext cx="914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🔎 Investigado</a:t>
            </a: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85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salas Genie · só a própria carteir</a:t>
            </a: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0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8" name="Google Shape;478;p28"/>
          <p:cNvCxnSpPr/>
          <p:nvPr/>
        </p:nvCxnSpPr>
        <p:spPr>
          <a:xfrm>
            <a:off x="2928938" y="2371725"/>
            <a:ext cx="2128800" cy="25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28"/>
          <p:cNvSpPr/>
          <p:nvPr/>
        </p:nvSpPr>
        <p:spPr>
          <a:xfrm>
            <a:off x="4572000" y="2643188"/>
            <a:ext cx="1000200" cy="771600"/>
          </a:xfrm>
          <a:prstGeom prst="roundRect">
            <a:avLst>
              <a:gd fmla="val 16667" name="adj"/>
            </a:avLst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8"/>
          <p:cNvSpPr txBox="1"/>
          <p:nvPr/>
        </p:nvSpPr>
        <p:spPr>
          <a:xfrm>
            <a:off x="4614863" y="2671763"/>
            <a:ext cx="914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alibri"/>
                <a:ea typeface="Calibri"/>
                <a:cs typeface="Calibri"/>
                <a:sym typeface="Calibri"/>
              </a:rPr>
              <a:t>🤖 Score M</a:t>
            </a: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latin typeface="Calibri"/>
                <a:ea typeface="Calibri"/>
                <a:cs typeface="Calibri"/>
                <a:sym typeface="Calibri"/>
              </a:rPr>
              <a:t>score_cnpj · (Ato 3</a:t>
            </a:r>
            <a:r>
              <a:rPr lang="en" sz="10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0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8"/>
          <p:cNvSpPr/>
          <p:nvPr/>
        </p:nvSpPr>
        <p:spPr>
          <a:xfrm>
            <a:off x="285750" y="3514725"/>
            <a:ext cx="5286300" cy="314400"/>
          </a:xfrm>
          <a:prstGeom prst="roundRect">
            <a:avLst>
              <a:gd fmla="val 16667" name="adj"/>
            </a:avLst>
          </a:prstGeom>
          <a:solidFill>
            <a:srgbClr val="CC9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8"/>
          <p:cNvSpPr txBox="1"/>
          <p:nvPr/>
        </p:nvSpPr>
        <p:spPr>
          <a:xfrm>
            <a:off x="400050" y="3529013"/>
            <a:ext cx="5072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UC functions lab_credito.* + GRANT EXECUTE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: o mesmo controle para pessoas e agentes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8"/>
          <p:cNvSpPr/>
          <p:nvPr/>
        </p:nvSpPr>
        <p:spPr>
          <a:xfrm>
            <a:off x="285750" y="3900488"/>
            <a:ext cx="5286300" cy="285900"/>
          </a:xfrm>
          <a:prstGeom prst="roundRect">
            <a:avLst>
              <a:gd fmla="val 16667" name="adj"/>
            </a:avLst>
          </a:prstGeom>
          <a:solidFill>
            <a:srgbClr val="0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8"/>
          <p:cNvSpPr txBox="1"/>
          <p:nvPr/>
        </p:nvSpPr>
        <p:spPr>
          <a:xfrm>
            <a:off x="400050" y="3900488"/>
            <a:ext cx="50721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Auditoria no </a:t>
            </a: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Lakebase</a:t>
            </a: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pergunta · ferramentas chamadas · resposta · tokens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8"/>
          <p:cNvSpPr/>
          <p:nvPr/>
        </p:nvSpPr>
        <p:spPr>
          <a:xfrm>
            <a:off x="5786438" y="1257300"/>
            <a:ext cx="3071700" cy="2914800"/>
          </a:xfrm>
          <a:prstGeom prst="rect">
            <a:avLst/>
          </a:prstGeom>
          <a:solidFill>
            <a:srgbClr val="EAFF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8"/>
          <p:cNvSpPr/>
          <p:nvPr/>
        </p:nvSpPr>
        <p:spPr>
          <a:xfrm>
            <a:off x="5786438" y="1257300"/>
            <a:ext cx="35700" cy="2914800"/>
          </a:xfrm>
          <a:prstGeom prst="rect">
            <a:avLst/>
          </a:prstGeom>
          <a:solidFill>
            <a:srgbClr val="007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8"/>
          <p:cNvSpPr txBox="1"/>
          <p:nvPr/>
        </p:nvSpPr>
        <p:spPr>
          <a:xfrm>
            <a:off x="5943600" y="1357313"/>
            <a:ext cx="28218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</a:rPr>
              <a:t>Três formas de montar, todas no Genie Code</a:t>
            </a:r>
            <a:endParaRPr b="1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1. Sala Genie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com as UC functions: sem código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2. Supervisor Agent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combinando salas Genie, funções e score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3. Genie Code + MCP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com as UC functions como ferramentas do próprio painel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i="1"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No app de referência, o mesmo desenho roda como orquestrador com tool calling.</a:t>
            </a:r>
            <a:endParaRPr i="1" sz="12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8"/>
          <p:cNvSpPr txBox="1"/>
          <p:nvPr/>
        </p:nvSpPr>
        <p:spPr>
          <a:xfrm>
            <a:off x="285750" y="4357688"/>
            <a:ext cx="8572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Abrir: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carteira_contratos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schema lab_credito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Genie: Risco e Fraude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Boletos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Cartões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Crédito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todas as salas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Agents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SQL editor</a:t>
            </a:r>
            <a:endParaRPr sz="11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8"/>
          <p:cNvSpPr txBox="1"/>
          <p:nvPr/>
        </p:nvSpPr>
        <p:spPr>
          <a:xfrm>
            <a:off x="285750" y="4529138"/>
            <a:ext cx="8572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Já prontos: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sala de crédito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resumo_carteira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quebra_carteira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evolucao_carteira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maiores_exposicoes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sinais_alerta</a:t>
            </a:r>
            <a:endParaRPr sz="11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9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ATO 4 · PONTO DE PARTIDA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9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O que já está pronto e o que vamos fazer ao vivo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9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9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9"/>
          <p:cNvSpPr/>
          <p:nvPr/>
        </p:nvSpPr>
        <p:spPr>
          <a:xfrm>
            <a:off x="514350" y="1257300"/>
            <a:ext cx="4000500" cy="335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007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9"/>
          <p:cNvSpPr txBox="1"/>
          <p:nvPr/>
        </p:nvSpPr>
        <p:spPr>
          <a:xfrm>
            <a:off x="685800" y="1357313"/>
            <a:ext cx="37149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</a:rPr>
              <a:t>✓  JÁ ESTÁ PRONTO</a:t>
            </a:r>
            <a:endParaRPr b="1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9"/>
          <p:cNvSpPr txBox="1"/>
          <p:nvPr/>
        </p:nvSpPr>
        <p:spPr>
          <a:xfrm>
            <a:off x="685800" y="1614488"/>
            <a:ext cx="3714900" cy="29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lab_credito.carteira_contratos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: contrato enriquecido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5 especialistas (UC functions): </a:t>
            </a:r>
            <a:endParaRPr b="1"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12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resumo_carteira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" sz="12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quebra_carteira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" sz="12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evolucao_carteira</a:t>
            </a:r>
            <a:endParaRPr sz="1200" u="sng">
              <a:solidFill>
                <a:srgbClr val="00795A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12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maiores_exposicoes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" sz="12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sinais_alerta</a:t>
            </a:r>
            <a:endParaRPr sz="1200" u="sng">
              <a:solidFill>
                <a:srgbClr val="00795A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Sala Genie de crédito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Nuclea - Monitoramento de Credito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com as funções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lab_ml.score_cnpj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+ endpoint de score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6 salas Genie por base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(risco, boletos, cartões…)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6 skills do Genie Code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· pipeline, DQ e modelo dos Atos 1 a 3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9"/>
          <p:cNvSpPr/>
          <p:nvPr/>
        </p:nvSpPr>
        <p:spPr>
          <a:xfrm>
            <a:off x="4686300" y="1257300"/>
            <a:ext cx="3943200" cy="33576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9"/>
          <p:cNvSpPr txBox="1"/>
          <p:nvPr/>
        </p:nvSpPr>
        <p:spPr>
          <a:xfrm>
            <a:off x="4857750" y="1357313"/>
            <a:ext cx="3643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▶  AO VIVO NO GENIE CODE</a:t>
            </a:r>
            <a:endParaRPr b="1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9"/>
          <p:cNvSpPr txBox="1"/>
          <p:nvPr/>
        </p:nvSpPr>
        <p:spPr>
          <a:xfrm>
            <a:off x="4857750" y="1643063"/>
            <a:ext cx="36432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(a) </a:t>
            </a:r>
            <a:r>
              <a:rPr b="1" lang="en" sz="13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Genie Code explora e valida</a:t>
            </a:r>
            <a:r>
              <a:rPr lang="en" sz="13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os especialistas no SQL editor</a:t>
            </a:r>
            <a:endParaRPr sz="13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(b) </a:t>
            </a:r>
            <a:r>
              <a:rPr b="1" lang="en" sz="13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Perguntas na sala Genie de crédito</a:t>
            </a:r>
            <a:r>
              <a:rPr lang="en" sz="13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: carteira × mercado e alerta precoce</a:t>
            </a:r>
            <a:endParaRPr sz="13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(c) </a:t>
            </a:r>
            <a:r>
              <a:rPr b="1" lang="en" sz="13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Montar o Supervisor Agent</a:t>
            </a:r>
            <a:r>
              <a:rPr lang="en" sz="13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com a sala de crédito, Risco, Boletos e o score</a:t>
            </a:r>
            <a:endParaRPr sz="13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(d) </a:t>
            </a:r>
            <a:r>
              <a:rPr b="1" lang="en" sz="13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Genie Code com as funções via MCP</a:t>
            </a:r>
            <a:r>
              <a:rPr lang="en" sz="13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no próprio painel</a:t>
            </a:r>
            <a:endParaRPr sz="13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0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0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ATO 4 · ROTEIRO AO VIVO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0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Seis passos no Genie Code (clique para ir ao slide)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0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0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0"/>
          <p:cNvSpPr/>
          <p:nvPr/>
        </p:nvSpPr>
        <p:spPr>
          <a:xfrm>
            <a:off x="514350" y="1200150"/>
            <a:ext cx="8115300" cy="41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0"/>
          <p:cNvSpPr/>
          <p:nvPr/>
        </p:nvSpPr>
        <p:spPr>
          <a:xfrm>
            <a:off x="614363" y="1264444"/>
            <a:ext cx="471600" cy="2859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2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0"/>
          <p:cNvSpPr txBox="1"/>
          <p:nvPr/>
        </p:nvSpPr>
        <p:spPr>
          <a:xfrm>
            <a:off x="1200150" y="1243013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Preparação</a:t>
            </a:r>
            <a:endParaRPr b="1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warehouse ligado · endpoint acordado · @nuclea mostra as 6 skills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0"/>
          <p:cNvSpPr txBox="1"/>
          <p:nvPr/>
        </p:nvSpPr>
        <p:spPr>
          <a:xfrm>
            <a:off x="7572375" y="1300163"/>
            <a:ext cx="928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15 min antes</a:t>
            </a:r>
            <a:endParaRPr b="1" sz="11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0"/>
          <p:cNvSpPr/>
          <p:nvPr/>
        </p:nvSpPr>
        <p:spPr>
          <a:xfrm>
            <a:off x="514350" y="1685925"/>
            <a:ext cx="8115300" cy="41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0"/>
          <p:cNvSpPr/>
          <p:nvPr/>
        </p:nvSpPr>
        <p:spPr>
          <a:xfrm>
            <a:off x="614363" y="1750219"/>
            <a:ext cx="471600" cy="2859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4.1</a:t>
            </a:r>
            <a:endParaRPr b="1" sz="12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0"/>
          <p:cNvSpPr txBox="1"/>
          <p:nvPr/>
        </p:nvSpPr>
        <p:spPr>
          <a:xfrm>
            <a:off x="1200150" y="1728788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Conhecer os especialistas</a:t>
            </a:r>
            <a:endParaRPr b="1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SQL editor → Genie Code: explicar e rodar as funções prontas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0"/>
          <p:cNvSpPr txBox="1"/>
          <p:nvPr/>
        </p:nvSpPr>
        <p:spPr>
          <a:xfrm>
            <a:off x="7572375" y="1785938"/>
            <a:ext cx="928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6 min</a:t>
            </a:r>
            <a:endParaRPr b="1" sz="11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0"/>
          <p:cNvSpPr/>
          <p:nvPr/>
        </p:nvSpPr>
        <p:spPr>
          <a:xfrm>
            <a:off x="514350" y="2171700"/>
            <a:ext cx="8115300" cy="41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0"/>
          <p:cNvSpPr/>
          <p:nvPr/>
        </p:nvSpPr>
        <p:spPr>
          <a:xfrm>
            <a:off x="614363" y="2235994"/>
            <a:ext cx="471600" cy="2859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4.2</a:t>
            </a:r>
            <a:endParaRPr b="1" sz="12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0"/>
          <p:cNvSpPr txBox="1"/>
          <p:nvPr/>
        </p:nvSpPr>
        <p:spPr>
          <a:xfrm>
            <a:off x="1200150" y="2214563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Conferir os números</a:t>
            </a:r>
            <a:endParaRPr b="1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SQL editor → Genie Code: diferença zero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0"/>
          <p:cNvSpPr txBox="1"/>
          <p:nvPr/>
        </p:nvSpPr>
        <p:spPr>
          <a:xfrm>
            <a:off x="7572375" y="2271713"/>
            <a:ext cx="928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3 min</a:t>
            </a:r>
            <a:endParaRPr b="1" sz="11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0"/>
          <p:cNvSpPr/>
          <p:nvPr/>
        </p:nvSpPr>
        <p:spPr>
          <a:xfrm>
            <a:off x="514350" y="2657475"/>
            <a:ext cx="8115300" cy="41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0"/>
          <p:cNvSpPr/>
          <p:nvPr/>
        </p:nvSpPr>
        <p:spPr>
          <a:xfrm>
            <a:off x="614363" y="2721769"/>
            <a:ext cx="471600" cy="2859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4.3</a:t>
            </a:r>
            <a:endParaRPr b="1" sz="12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0"/>
          <p:cNvSpPr txBox="1"/>
          <p:nvPr/>
        </p:nvSpPr>
        <p:spPr>
          <a:xfrm>
            <a:off x="1200150" y="2700338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Sala Genie de crédito (pronta)</a:t>
            </a:r>
            <a:endParaRPr b="1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Genie → Nuclea - Monitoramento de Credito: 2 perguntas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0"/>
          <p:cNvSpPr txBox="1"/>
          <p:nvPr/>
        </p:nvSpPr>
        <p:spPr>
          <a:xfrm>
            <a:off x="7572375" y="2757488"/>
            <a:ext cx="928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 b="1" sz="11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0"/>
          <p:cNvSpPr/>
          <p:nvPr/>
        </p:nvSpPr>
        <p:spPr>
          <a:xfrm>
            <a:off x="514350" y="3143250"/>
            <a:ext cx="8115300" cy="41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0"/>
          <p:cNvSpPr/>
          <p:nvPr/>
        </p:nvSpPr>
        <p:spPr>
          <a:xfrm>
            <a:off x="614363" y="3207544"/>
            <a:ext cx="471600" cy="2859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4.4</a:t>
            </a:r>
            <a:endParaRPr b="1" sz="12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0"/>
          <p:cNvSpPr txBox="1"/>
          <p:nvPr/>
        </p:nvSpPr>
        <p:spPr>
          <a:xfrm>
            <a:off x="1200150" y="3186113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 time de agentes: Supervisor</a:t>
            </a:r>
            <a:endParaRPr b="1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Agents → Supervisor Agent + trace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0"/>
          <p:cNvSpPr txBox="1"/>
          <p:nvPr/>
        </p:nvSpPr>
        <p:spPr>
          <a:xfrm>
            <a:off x="7572375" y="3243263"/>
            <a:ext cx="928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7 min</a:t>
            </a:r>
            <a:endParaRPr b="1" sz="11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514350" y="3629025"/>
            <a:ext cx="8115300" cy="41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0"/>
          <p:cNvSpPr/>
          <p:nvPr/>
        </p:nvSpPr>
        <p:spPr>
          <a:xfrm>
            <a:off x="614363" y="3693319"/>
            <a:ext cx="471600" cy="2859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4.5</a:t>
            </a:r>
            <a:endParaRPr b="1" sz="12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0"/>
          <p:cNvSpPr txBox="1"/>
          <p:nvPr/>
        </p:nvSpPr>
        <p:spPr>
          <a:xfrm>
            <a:off x="1200150" y="3671888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Genie Code como agente de crédito</a:t>
            </a:r>
            <a:endParaRPr b="1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Settings → MCP → UC Functions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0"/>
          <p:cNvSpPr txBox="1"/>
          <p:nvPr/>
        </p:nvSpPr>
        <p:spPr>
          <a:xfrm>
            <a:off x="7572375" y="3729038"/>
            <a:ext cx="928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3 min</a:t>
            </a:r>
            <a:endParaRPr b="1" sz="11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0"/>
          <p:cNvSpPr/>
          <p:nvPr/>
        </p:nvSpPr>
        <p:spPr>
          <a:xfrm>
            <a:off x="514350" y="4114800"/>
            <a:ext cx="8115300" cy="41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0"/>
          <p:cNvSpPr/>
          <p:nvPr/>
        </p:nvSpPr>
        <p:spPr>
          <a:xfrm>
            <a:off x="614363" y="4179094"/>
            <a:ext cx="471600" cy="2859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2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0"/>
          <p:cNvSpPr txBox="1"/>
          <p:nvPr/>
        </p:nvSpPr>
        <p:spPr>
          <a:xfrm>
            <a:off x="1200150" y="4157663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Plano B</a:t>
            </a:r>
            <a:endParaRPr b="1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o que fazer se algo falhar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1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1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ATO 4 · PASSO 0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1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Preparação (15 minutos antes)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1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1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1"/>
          <p:cNvSpPr txBox="1"/>
          <p:nvPr/>
        </p:nvSpPr>
        <p:spPr>
          <a:xfrm>
            <a:off x="514350" y="1143000"/>
            <a:ext cx="81153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Onde clicar: </a:t>
            </a: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SQL editor e painel do Genie Code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 ·   abrir: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sql editor</a:t>
            </a:r>
            <a:endParaRPr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1"/>
          <p:cNvSpPr txBox="1"/>
          <p:nvPr/>
        </p:nvSpPr>
        <p:spPr>
          <a:xfrm>
            <a:off x="7500938" y="4929188"/>
            <a:ext cx="1357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↩ índice do roteiro</a:t>
            </a:r>
            <a:endParaRPr sz="9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1"/>
          <p:cNvSpPr txBox="1"/>
          <p:nvPr/>
        </p:nvSpPr>
        <p:spPr>
          <a:xfrm>
            <a:off x="514350" y="1428750"/>
            <a:ext cx="44292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☐  Ligue o SQL warehouse </a:t>
            </a:r>
            <a:r>
              <a:rPr b="1"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Serverless Starter Warehouse</a:t>
            </a: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☐  Acorde o endpoint de score (desliga quando ocioso): rode a consulta ao lado. A 1ª chamada pode levar alguns minutos.</a:t>
            </a:r>
            <a:endParaRPr sz="13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☐  Abra o painel do Genie Code, comece uma </a:t>
            </a:r>
            <a:r>
              <a:rPr b="1"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nova conversa</a:t>
            </a: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e digite </a:t>
            </a:r>
            <a:r>
              <a:rPr b="1" lang="en" sz="1300">
                <a:solidFill>
                  <a:srgbClr val="0E2233"/>
                </a:solidFill>
                <a:latin typeface="Roboto Mono"/>
                <a:ea typeface="Roboto Mono"/>
                <a:cs typeface="Roboto Mono"/>
                <a:sym typeface="Roboto Mono"/>
              </a:rPr>
              <a:t>@nuclea</a:t>
            </a: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: as 6 skills devem aparecer.</a:t>
            </a:r>
            <a:endParaRPr sz="13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☐  Abas abertas: Google Slides · </a:t>
            </a:r>
            <a:r>
              <a:rPr lang="en" sz="13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sala de crédito</a:t>
            </a: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" sz="13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SQL editor</a:t>
            </a: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" sz="13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Agents</a:t>
            </a: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" sz="13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pipeline</a:t>
            </a: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" sz="13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modelo</a:t>
            </a:r>
            <a:endParaRPr sz="13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☐  Confirme que </a:t>
            </a:r>
            <a:r>
              <a:rPr lang="en" sz="13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lab_credito</a:t>
            </a: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tem as 5 funções especialistas e que a </a:t>
            </a:r>
            <a:r>
              <a:rPr lang="en" sz="13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sala de crédito</a:t>
            </a:r>
            <a:r>
              <a:rPr lang="en" sz="13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abre com as SQL functions.</a:t>
            </a:r>
            <a:endParaRPr sz="13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1"/>
          <p:cNvSpPr/>
          <p:nvPr/>
        </p:nvSpPr>
        <p:spPr>
          <a:xfrm>
            <a:off x="5114925" y="1428750"/>
            <a:ext cx="3514800" cy="7857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1"/>
          <p:cNvSpPr txBox="1"/>
          <p:nvPr/>
        </p:nvSpPr>
        <p:spPr>
          <a:xfrm>
            <a:off x="5214938" y="1471613"/>
            <a:ext cx="3314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SQL EDITOR · ACORDAR O ENDPOINT ›</a:t>
            </a:r>
            <a:endParaRPr b="1" sz="8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workshop_nuclea_genie_catalog.lab_ml.score_cnpj('05657016000195');</a:t>
            </a:r>
            <a:endParaRPr sz="100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5" name="Google Shape;555;p31"/>
          <p:cNvSpPr/>
          <p:nvPr/>
        </p:nvSpPr>
        <p:spPr>
          <a:xfrm>
            <a:off x="5114925" y="2357438"/>
            <a:ext cx="3514800" cy="785700"/>
          </a:xfrm>
          <a:prstGeom prst="rect">
            <a:avLst/>
          </a:prstGeom>
          <a:solidFill>
            <a:srgbClr val="EAFF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1"/>
          <p:cNvSpPr/>
          <p:nvPr/>
        </p:nvSpPr>
        <p:spPr>
          <a:xfrm>
            <a:off x="5114925" y="2357438"/>
            <a:ext cx="35700" cy="785700"/>
          </a:xfrm>
          <a:prstGeom prst="rect">
            <a:avLst/>
          </a:prstGeom>
          <a:solidFill>
            <a:srgbClr val="007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1"/>
          <p:cNvSpPr txBox="1"/>
          <p:nvPr/>
        </p:nvSpPr>
        <p:spPr>
          <a:xfrm>
            <a:off x="5229225" y="2400300"/>
            <a:ext cx="33291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</a:rPr>
              <a:t>Esperado: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1 linha com prob_inadimplencia ≈ 0,994, score 6 e faixa E. Se demorar, é o scale-to-zero: repita em 1 a 2 minutos.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1"/>
          <p:cNvSpPr/>
          <p:nvPr/>
        </p:nvSpPr>
        <p:spPr>
          <a:xfrm>
            <a:off x="5114925" y="3286125"/>
            <a:ext cx="3514800" cy="642900"/>
          </a:xfrm>
          <a:prstGeom prst="rect">
            <a:avLst/>
          </a:prstGeom>
          <a:solidFill>
            <a:srgbClr val="F7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1"/>
          <p:cNvSpPr/>
          <p:nvPr/>
        </p:nvSpPr>
        <p:spPr>
          <a:xfrm>
            <a:off x="5114925" y="3286125"/>
            <a:ext cx="35700" cy="642900"/>
          </a:xfrm>
          <a:prstGeom prst="rect">
            <a:avLst/>
          </a:prstGeom>
          <a:solidFill>
            <a:srgbClr val="6B2F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1"/>
          <p:cNvSpPr txBox="1"/>
          <p:nvPr/>
        </p:nvSpPr>
        <p:spPr>
          <a:xfrm>
            <a:off x="5229225" y="3328988"/>
            <a:ext cx="33291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Skills: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@nuclea-contexto-dados, -ingestao-massiva, -data-quality, -model-serving, -monitoramento-credito, -identidade-visual.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2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2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ATO 4 · PASSO 4.1 · PROMPT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2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Conhecer os especialistas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2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2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2"/>
          <p:cNvSpPr txBox="1"/>
          <p:nvPr/>
        </p:nvSpPr>
        <p:spPr>
          <a:xfrm>
            <a:off x="514350" y="1143000"/>
            <a:ext cx="81153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Onde clicar: </a:t>
            </a: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SQL editor → painel do Genie Code (agente)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 ·   abrir: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sql editor</a:t>
            </a:r>
            <a:endParaRPr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2"/>
          <p:cNvSpPr txBox="1"/>
          <p:nvPr/>
        </p:nvSpPr>
        <p:spPr>
          <a:xfrm>
            <a:off x="7500938" y="4929188"/>
            <a:ext cx="1357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↩ índice do roteiro</a:t>
            </a:r>
            <a:endParaRPr sz="9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2"/>
          <p:cNvSpPr/>
          <p:nvPr/>
        </p:nvSpPr>
        <p:spPr>
          <a:xfrm>
            <a:off x="514350" y="1400175"/>
            <a:ext cx="8115300" cy="8574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2"/>
          <p:cNvSpPr txBox="1"/>
          <p:nvPr/>
        </p:nvSpPr>
        <p:spPr>
          <a:xfrm>
            <a:off x="614363" y="1443038"/>
            <a:ext cx="79152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GENIE CODE ›</a:t>
            </a:r>
            <a:endParaRPr b="1" sz="8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@nuclea-monitoramento-credito Explique o que fazem as funções de workshop_nuclea_genie_catalog.lab_credito e rode quebra_carteira por UF e sinais_alerta para o ISPB 42691787, Varejo, Pequeno, Sudeste. Resuma os achados em uma tabela.</a:t>
            </a:r>
            <a:endParaRPr sz="11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4" name="Google Shape;574;p32"/>
          <p:cNvSpPr txBox="1"/>
          <p:nvPr/>
        </p:nvSpPr>
        <p:spPr>
          <a:xfrm>
            <a:off x="514350" y="2386013"/>
            <a:ext cx="81153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Especialistas prontos (UC functions): </a:t>
            </a:r>
            <a:r>
              <a:rPr lang="en" sz="12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resumo_carteira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quebra_carteira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evolucao_carteira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maiores_exposicoes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sinais_alerta</a:t>
            </a:r>
            <a:endParaRPr sz="1200" u="sng">
              <a:solidFill>
                <a:srgbClr val="00795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5" name="Google Shape;575;p32"/>
          <p:cNvSpPr/>
          <p:nvPr/>
        </p:nvSpPr>
        <p:spPr>
          <a:xfrm>
            <a:off x="514350" y="2886075"/>
            <a:ext cx="8115300" cy="642900"/>
          </a:xfrm>
          <a:prstGeom prst="rect">
            <a:avLst/>
          </a:prstGeom>
          <a:solidFill>
            <a:srgbClr val="F7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2"/>
          <p:cNvSpPr/>
          <p:nvPr/>
        </p:nvSpPr>
        <p:spPr>
          <a:xfrm>
            <a:off x="514350" y="2886075"/>
            <a:ext cx="35700" cy="642900"/>
          </a:xfrm>
          <a:prstGeom prst="rect">
            <a:avLst/>
          </a:prstGeom>
          <a:solidFill>
            <a:srgbClr val="6B2F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2"/>
          <p:cNvSpPr txBox="1"/>
          <p:nvPr/>
        </p:nvSpPr>
        <p:spPr>
          <a:xfrm>
            <a:off x="628650" y="2928938"/>
            <a:ext cx="79296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Mostre: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o Genie Code lendo o COMMENT de cada função, chamando quebra_carteira e sinais_alerta com os filtros certos e montando a tabela. “Cada especialista é uma função governada no Unity Catalog; a skill ensina como usá-las.”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2"/>
          <p:cNvSpPr txBox="1"/>
          <p:nvPr/>
        </p:nvSpPr>
        <p:spPr>
          <a:xfrm>
            <a:off x="514350" y="3657600"/>
            <a:ext cx="8115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Resultado esperado no próximo slide  →</a:t>
            </a:r>
            <a:endParaRPr b="1"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3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3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ATO 4 · PASSO 4.1 · ESPERADO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3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Os especialistas respondem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3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3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3"/>
          <p:cNvSpPr txBox="1"/>
          <p:nvPr/>
        </p:nvSpPr>
        <p:spPr>
          <a:xfrm>
            <a:off x="514350" y="1143000"/>
            <a:ext cx="81153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Onde clicar: </a:t>
            </a: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SQL editor (resultado das funções)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 ·   abrir: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schema lab credito</a:t>
            </a:r>
            <a:endParaRPr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3"/>
          <p:cNvSpPr txBox="1"/>
          <p:nvPr/>
        </p:nvSpPr>
        <p:spPr>
          <a:xfrm>
            <a:off x="7500938" y="4929188"/>
            <a:ext cx="1357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↩ índice do roteiro</a:t>
            </a:r>
            <a:endParaRPr sz="9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0" name="Google Shape;590;p33"/>
          <p:cNvGraphicFramePr/>
          <p:nvPr/>
        </p:nvGraphicFramePr>
        <p:xfrm>
          <a:off x="51435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{D482BDD0-B64D-46E4-96DA-3601281D979A}</a:tableStyleId>
              </a:tblPr>
              <a:tblGrid>
                <a:gridCol w="1391475"/>
                <a:gridCol w="869650"/>
                <a:gridCol w="869650"/>
                <a:gridCol w="869650"/>
              </a:tblGrid>
              <a:tr h="32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quebra_carteira por UF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do saldo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Inad. minha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Inad. mercado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2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64,3%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4,38%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5,58%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MG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17,9%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4,51%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3,10%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RJ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13,8%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1,94%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3,30%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4,0%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3,16%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3,88%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1" name="Google Shape;591;p33"/>
          <p:cNvSpPr/>
          <p:nvPr/>
        </p:nvSpPr>
        <p:spPr>
          <a:xfrm>
            <a:off x="4714875" y="1428750"/>
            <a:ext cx="3914700" cy="16431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3"/>
          <p:cNvSpPr txBox="1"/>
          <p:nvPr/>
        </p:nvSpPr>
        <p:spPr>
          <a:xfrm>
            <a:off x="4857750" y="1514475"/>
            <a:ext cx="36432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sinais_alerta · topo</a:t>
            </a:r>
            <a:endParaRPr b="1" sz="13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1. Gonçalves da Mota Eireli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· 8 pontos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inadimplente; score caiu 116 pts; boleto adulterado confirmado</a:t>
            </a:r>
            <a:endParaRPr sz="12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Novais Moreira S.A.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· saldo ativo R$ 62,9 mil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2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score caiu 173 pts, faixa D, 2 alertas em aberto</a:t>
            </a:r>
            <a:endParaRPr sz="12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3"/>
          <p:cNvSpPr/>
          <p:nvPr/>
        </p:nvSpPr>
        <p:spPr>
          <a:xfrm>
            <a:off x="514350" y="3571875"/>
            <a:ext cx="8115300" cy="457200"/>
          </a:xfrm>
          <a:prstGeom prst="rect">
            <a:avLst/>
          </a:prstGeom>
          <a:solidFill>
            <a:srgbClr val="EAFF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3"/>
          <p:cNvSpPr/>
          <p:nvPr/>
        </p:nvSpPr>
        <p:spPr>
          <a:xfrm>
            <a:off x="514350" y="3571875"/>
            <a:ext cx="35700" cy="457200"/>
          </a:xfrm>
          <a:prstGeom prst="rect">
            <a:avLst/>
          </a:prstGeom>
          <a:solidFill>
            <a:srgbClr val="007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3"/>
          <p:cNvSpPr txBox="1"/>
          <p:nvPr/>
        </p:nvSpPr>
        <p:spPr>
          <a:xfrm>
            <a:off x="628650" y="3614738"/>
            <a:ext cx="79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</a:rPr>
              <a:t>Checkpoint: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MG é a única UF pior que o mercado (4,51% contra 3,10%). sinais_alerta traz Gonçalves da Mota no topo, com 8 pontos.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3"/>
          <p:cNvSpPr txBox="1"/>
          <p:nvPr/>
        </p:nvSpPr>
        <p:spPr>
          <a:xfrm>
            <a:off x="514350" y="4143375"/>
            <a:ext cx="8115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Funções: </a:t>
            </a:r>
            <a:r>
              <a:rPr lang="en" sz="11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resumo_carteira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quebra_carteira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evolucao_carteira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maiores_exposicoes</a:t>
            </a: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sinais_alerta</a:t>
            </a:r>
            <a:endParaRPr sz="1100" u="sng">
              <a:solidFill>
                <a:srgbClr val="00795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4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4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ATO 4 · PASSO 4.2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4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Conferir os números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4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4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4"/>
          <p:cNvSpPr txBox="1"/>
          <p:nvPr/>
        </p:nvSpPr>
        <p:spPr>
          <a:xfrm>
            <a:off x="514350" y="1143000"/>
            <a:ext cx="81153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Onde clicar: </a:t>
            </a: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SQL editor → painel do Genie Code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 ·   abrir: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sql editor</a:t>
            </a:r>
            <a:endParaRPr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4"/>
          <p:cNvSpPr txBox="1"/>
          <p:nvPr/>
        </p:nvSpPr>
        <p:spPr>
          <a:xfrm>
            <a:off x="7500938" y="4929188"/>
            <a:ext cx="1357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↩ índice do roteiro</a:t>
            </a:r>
            <a:endParaRPr sz="9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4"/>
          <p:cNvSpPr/>
          <p:nvPr/>
        </p:nvSpPr>
        <p:spPr>
          <a:xfrm>
            <a:off x="514350" y="1400175"/>
            <a:ext cx="8115300" cy="9288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4"/>
          <p:cNvSpPr txBox="1"/>
          <p:nvPr/>
        </p:nvSpPr>
        <p:spPr>
          <a:xfrm>
            <a:off x="614363" y="1443038"/>
            <a:ext cx="7915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GENIE CODE ›</a:t>
            </a:r>
            <a:endParaRPr b="1" sz="8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Valide os agentes: compare lado a lado lab_credito.resumo_carteira('42691787','Varejo','Pequeno','Sudeste') com um SQL direto sobre carteira_contratos com os mesmos filtros (porte MEI/ME/EPP, UF SP/RJ/MG/ES, status diferente de Liquidado). Mostre a diferença de cada métrica.</a:t>
            </a:r>
            <a:endParaRPr sz="100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610" name="Google Shape;610;p34"/>
          <p:cNvGraphicFramePr/>
          <p:nvPr/>
        </p:nvGraphicFramePr>
        <p:xfrm>
          <a:off x="514350" y="2471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{D482BDD0-B64D-46E4-96DA-3601281D979A}</a:tableStyleId>
              </a:tblPr>
              <a:tblGrid>
                <a:gridCol w="2200275"/>
                <a:gridCol w="1000125"/>
                <a:gridCol w="1000125"/>
                <a:gridCol w="800100"/>
              </a:tblGrid>
              <a:tr h="33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ISPB 42691787 · Varejo · Pequeno · Sudeste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Minha carteira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Mercado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Diferença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3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Contratos ativos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622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6.258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Saldo devedor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R$ 27,92 mi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R$ 260,33 mi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inadimplência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4,02%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4,64%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1" name="Google Shape;611;p34"/>
          <p:cNvSpPr/>
          <p:nvPr/>
        </p:nvSpPr>
        <p:spPr>
          <a:xfrm>
            <a:off x="5715000" y="2471738"/>
            <a:ext cx="2914800" cy="1357200"/>
          </a:xfrm>
          <a:prstGeom prst="rect">
            <a:avLst/>
          </a:prstGeom>
          <a:solidFill>
            <a:srgbClr val="F7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4"/>
          <p:cNvSpPr/>
          <p:nvPr/>
        </p:nvSpPr>
        <p:spPr>
          <a:xfrm>
            <a:off x="5715000" y="2471738"/>
            <a:ext cx="35700" cy="1357200"/>
          </a:xfrm>
          <a:prstGeom prst="rect">
            <a:avLst/>
          </a:prstGeom>
          <a:solidFill>
            <a:srgbClr val="6B2F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4"/>
          <p:cNvSpPr txBox="1"/>
          <p:nvPr/>
        </p:nvSpPr>
        <p:spPr>
          <a:xfrm>
            <a:off x="5829300" y="2514600"/>
            <a:ext cx="2728800" cy="12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Fala: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“Agente sem validação não vai para cliente. Aqui a diferença é zero.”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5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5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ATO 4 · PASSO 4.3 · SALA PRONTA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5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Sala Genie de crédito: a pergunta do cliente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5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5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5"/>
          <p:cNvSpPr txBox="1"/>
          <p:nvPr/>
        </p:nvSpPr>
        <p:spPr>
          <a:xfrm>
            <a:off x="514350" y="1143000"/>
            <a:ext cx="81153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Onde clicar: </a:t>
            </a: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Genie → Nuclea - Monitoramento de Credito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 ·   abrir: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sala credito</a:t>
            </a:r>
            <a:endParaRPr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5"/>
          <p:cNvSpPr txBox="1"/>
          <p:nvPr/>
        </p:nvSpPr>
        <p:spPr>
          <a:xfrm>
            <a:off x="7500938" y="4929188"/>
            <a:ext cx="1357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↩ índice do roteiro</a:t>
            </a:r>
            <a:endParaRPr sz="9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5"/>
          <p:cNvSpPr txBox="1"/>
          <p:nvPr/>
        </p:nvSpPr>
        <p:spPr>
          <a:xfrm>
            <a:off x="514350" y="1371600"/>
            <a:ext cx="81153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Mostre antes de perguntar: </a:t>
            </a:r>
            <a:r>
              <a:rPr b="1"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(regras de carteira, porte, regiões e comparação com o mercado) e </a:t>
            </a:r>
            <a:r>
              <a:rPr b="1"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SQL functions</a:t>
            </a:r>
            <a:r>
              <a:rPr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1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resumo_carteira</a:t>
            </a:r>
            <a:r>
              <a:rPr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quebra_carteira</a:t>
            </a:r>
            <a:r>
              <a:rPr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evolucao_carteira</a:t>
            </a:r>
            <a:r>
              <a:rPr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maiores_exposicoes</a:t>
            </a:r>
            <a:r>
              <a:rPr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1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sinais_alerta</a:t>
            </a:r>
            <a:endParaRPr sz="1100" u="sng">
              <a:solidFill>
                <a:srgbClr val="00795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26" name="Google Shape;626;p35"/>
          <p:cNvSpPr/>
          <p:nvPr/>
        </p:nvSpPr>
        <p:spPr>
          <a:xfrm>
            <a:off x="514350" y="1800225"/>
            <a:ext cx="8115300" cy="6429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5"/>
          <p:cNvSpPr txBox="1"/>
          <p:nvPr/>
        </p:nvSpPr>
        <p:spPr>
          <a:xfrm>
            <a:off x="614363" y="1843088"/>
            <a:ext cx="7915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GENIE CODE ›</a:t>
            </a:r>
            <a:endParaRPr b="1" sz="8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Para o ISPB 42691787: como está a minha carteira de crédito de empresas do segmento varejo, pequeno porte, com presença na região sudeste? Compare com o mercado.</a:t>
            </a:r>
            <a:endParaRPr sz="10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628" name="Google Shape;628;p35"/>
          <p:cNvGraphicFramePr/>
          <p:nvPr/>
        </p:nvGraphicFramePr>
        <p:xfrm>
          <a:off x="51435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{D482BDD0-B64D-46E4-96DA-3601281D979A}</a:tableStyleId>
              </a:tblPr>
              <a:tblGrid>
                <a:gridCol w="2500300"/>
                <a:gridCol w="1250150"/>
                <a:gridCol w="1250150"/>
              </a:tblGrid>
              <a:tr h="30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Esperado (via resumo_carteira)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Minha carteira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Mercado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0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Contratos ativos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622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6.258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Saldo devedor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R$ 27,92 mi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R$ 260,33 mi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inadimplência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4,02%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4,64%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9" name="Google Shape;629;p35"/>
          <p:cNvSpPr/>
          <p:nvPr/>
        </p:nvSpPr>
        <p:spPr>
          <a:xfrm>
            <a:off x="5715000" y="2571750"/>
            <a:ext cx="2914800" cy="1214400"/>
          </a:xfrm>
          <a:prstGeom prst="rect">
            <a:avLst/>
          </a:prstGeom>
          <a:solidFill>
            <a:srgbClr val="EAFF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5"/>
          <p:cNvSpPr/>
          <p:nvPr/>
        </p:nvSpPr>
        <p:spPr>
          <a:xfrm>
            <a:off x="5715000" y="2571750"/>
            <a:ext cx="35700" cy="1214400"/>
          </a:xfrm>
          <a:prstGeom prst="rect">
            <a:avLst/>
          </a:prstGeom>
          <a:solidFill>
            <a:srgbClr val="007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5"/>
          <p:cNvSpPr txBox="1"/>
          <p:nvPr/>
        </p:nvSpPr>
        <p:spPr>
          <a:xfrm>
            <a:off x="5829300" y="2614613"/>
            <a:ext cx="27288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</a:rPr>
              <a:t>Checkpoint: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abra o SQL gerado pela Genie: ele chama lab_credito.resumo_carteira e devolve os mesmos números do passo 4.2.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5"/>
          <p:cNvSpPr txBox="1"/>
          <p:nvPr/>
        </p:nvSpPr>
        <p:spPr>
          <a:xfrm>
            <a:off x="514350" y="3971925"/>
            <a:ext cx="81153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Segunda pergunta no próximo slide  →</a:t>
            </a:r>
            <a:endParaRPr b="1"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6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6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ATO 4 · PASSO 4.3 · ALERTA PRECOCE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6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Quem devo olhar primeiro?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6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6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6"/>
          <p:cNvSpPr txBox="1"/>
          <p:nvPr/>
        </p:nvSpPr>
        <p:spPr>
          <a:xfrm>
            <a:off x="514350" y="1143000"/>
            <a:ext cx="81153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Onde clicar: </a:t>
            </a: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Genie → Nuclea - Monitoramento de Credito (mesma conversa)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 ·   abrir: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sala credito</a:t>
            </a:r>
            <a:endParaRPr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6"/>
          <p:cNvSpPr txBox="1"/>
          <p:nvPr/>
        </p:nvSpPr>
        <p:spPr>
          <a:xfrm>
            <a:off x="7500938" y="4929188"/>
            <a:ext cx="1357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↩ índice do roteiro</a:t>
            </a:r>
            <a:endParaRPr sz="9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6"/>
          <p:cNvSpPr/>
          <p:nvPr/>
        </p:nvSpPr>
        <p:spPr>
          <a:xfrm>
            <a:off x="514350" y="1400175"/>
            <a:ext cx="8115300" cy="6429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6"/>
          <p:cNvSpPr txBox="1"/>
          <p:nvPr/>
        </p:nvSpPr>
        <p:spPr>
          <a:xfrm>
            <a:off x="614363" y="1443038"/>
            <a:ext cx="7915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GENIE CODE ›</a:t>
            </a:r>
            <a:endParaRPr b="1" sz="8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Para o ISPB 42691787: quais tomadores de Varejo, pequeno porte, no Sudeste eu devo olhar primeiro e por quê?</a:t>
            </a:r>
            <a:endParaRPr sz="10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646" name="Google Shape;646;p36"/>
          <p:cNvGraphicFramePr/>
          <p:nvPr/>
        </p:nvGraphicFramePr>
        <p:xfrm>
          <a:off x="514350" y="2185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{D482BDD0-B64D-46E4-96DA-3601281D979A}</a:tableStyleId>
              </a:tblPr>
              <a:tblGrid>
                <a:gridCol w="1861450"/>
                <a:gridCol w="3567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Esperado (via sinais_alerta)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 quê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Gonçalves da Mota Eireli · 8 pts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inadimplente, score caiu 116, boleto adulterado confirmado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Novais Moreira S.A.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 caiu 173, faixa D, 2 alertas em aberto (saldo ativo R$ 62,9 mil)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7" name="Google Shape;647;p36"/>
          <p:cNvSpPr/>
          <p:nvPr/>
        </p:nvSpPr>
        <p:spPr>
          <a:xfrm>
            <a:off x="6086475" y="2185988"/>
            <a:ext cx="2543100" cy="1143000"/>
          </a:xfrm>
          <a:prstGeom prst="rect">
            <a:avLst/>
          </a:prstGeom>
          <a:solidFill>
            <a:srgbClr val="EAFF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6"/>
          <p:cNvSpPr/>
          <p:nvPr/>
        </p:nvSpPr>
        <p:spPr>
          <a:xfrm>
            <a:off x="6086475" y="2185988"/>
            <a:ext cx="35700" cy="1143000"/>
          </a:xfrm>
          <a:prstGeom prst="rect">
            <a:avLst/>
          </a:prstGeom>
          <a:solidFill>
            <a:srgbClr val="007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6"/>
          <p:cNvSpPr txBox="1"/>
          <p:nvPr/>
        </p:nvSpPr>
        <p:spPr>
          <a:xfrm>
            <a:off x="6200775" y="2228850"/>
            <a:ext cx="23574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</a:rPr>
              <a:t>Mostre: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o SQL gerado chamando lab_credito.sinais_alerta com os filtros certos.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6"/>
          <p:cNvSpPr txBox="1"/>
          <p:nvPr/>
        </p:nvSpPr>
        <p:spPr>
          <a:xfrm>
            <a:off x="514350" y="3500438"/>
            <a:ext cx="8115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Abrir a sala: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Nuclea - Monitoramento de Credito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 ·   função: </a:t>
            </a:r>
            <a:r>
              <a:rPr lang="en" sz="1200" u="sng">
                <a:solidFill>
                  <a:srgbClr val="00795A"/>
                </a:solid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sinais_alerta</a:t>
            </a:r>
            <a:endParaRPr sz="1200" u="sng">
              <a:solidFill>
                <a:srgbClr val="00795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7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7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ATO 4 · PASSO 4.4 · CONFIGURAR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7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O time de agentes: Supervisor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7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7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7"/>
          <p:cNvSpPr txBox="1"/>
          <p:nvPr/>
        </p:nvSpPr>
        <p:spPr>
          <a:xfrm>
            <a:off x="514350" y="1143000"/>
            <a:ext cx="81153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Onde clicar: </a:t>
            </a: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Agents → Supervisor Agent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 ·   abrir: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agents</a:t>
            </a:r>
            <a:endParaRPr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7"/>
          <p:cNvSpPr txBox="1"/>
          <p:nvPr/>
        </p:nvSpPr>
        <p:spPr>
          <a:xfrm>
            <a:off x="7500938" y="4929188"/>
            <a:ext cx="1357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↩ índice do roteiro</a:t>
            </a:r>
            <a:endParaRPr sz="9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7"/>
          <p:cNvSpPr txBox="1"/>
          <p:nvPr/>
        </p:nvSpPr>
        <p:spPr>
          <a:xfrm>
            <a:off x="514350" y="1357313"/>
            <a:ext cx="811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Nome </a:t>
            </a:r>
            <a:r>
              <a:rPr b="1" lang="en" sz="1100">
                <a:solidFill>
                  <a:srgbClr val="0E2233"/>
                </a:solidFill>
                <a:latin typeface="Roboto Mono"/>
                <a:ea typeface="Roboto Mono"/>
                <a:cs typeface="Roboto Mono"/>
                <a:sym typeface="Roboto Mono"/>
              </a:rPr>
              <a:t>supervisor-credito-nuclea</a:t>
            </a:r>
            <a:r>
              <a:rPr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· Subagentes: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Nuclea - Monitoramento de Credito (pronta)</a:t>
            </a:r>
            <a:r>
              <a:rPr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Nuclea - Risco e Fraude</a:t>
            </a:r>
            <a:r>
              <a:rPr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" sz="11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Nuclea - Boletos (PCR e SILOC)</a:t>
            </a:r>
            <a:r>
              <a:rPr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 · Ferramenta: lab_ml.score_cnpj · Em </a:t>
            </a:r>
            <a:r>
              <a:rPr b="1"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" sz="11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, cole:</a:t>
            </a:r>
            <a:endParaRPr sz="11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7"/>
          <p:cNvSpPr/>
          <p:nvPr/>
        </p:nvSpPr>
        <p:spPr>
          <a:xfrm>
            <a:off x="514350" y="1871663"/>
            <a:ext cx="8115300" cy="15858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7"/>
          <p:cNvSpPr txBox="1"/>
          <p:nvPr/>
        </p:nvSpPr>
        <p:spPr>
          <a:xfrm>
            <a:off x="614363" y="1914525"/>
            <a:ext cx="7915200" cy="15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COLE NAS INSTRUCTIONS DO SUPERVISOR ›</a:t>
            </a:r>
            <a:endParaRPr b="1" sz="8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Você é o orquestrador de monitoramento de crédito da Núclea. Coordene especialistas:</a:t>
            </a:r>
            <a:endParaRPr sz="9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- Carteira (resumo, quebra, safras), Exposição (maiores tomadores), Alerta Precoce (sinais_alerta): UC functions;</a:t>
            </a:r>
            <a:endParaRPr sz="9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- Investigador: salas Genie de Risco e Boletos, apenas para 1 a 3 CNPJs críticos;</a:t>
            </a:r>
            <a:endParaRPr sz="9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- Score ML: score_cnpj para os maiores tomadores e os que têm sinais de alerta.</a:t>
            </a:r>
            <a:endParaRPr sz="9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Nunca invente números; chame as ferramentas antes de responder e compare sempre com o mercado.</a:t>
            </a:r>
            <a:endParaRPr sz="9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Formato: Resumo executivo; Indicadores vs mercado; Tendência (safras); Concentração; Sinais de alerta; Recomendações.</a:t>
            </a:r>
            <a:endParaRPr sz="95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65" name="Google Shape;665;p37"/>
          <p:cNvSpPr/>
          <p:nvPr/>
        </p:nvSpPr>
        <p:spPr>
          <a:xfrm>
            <a:off x="514350" y="3571875"/>
            <a:ext cx="8115300" cy="471600"/>
          </a:xfrm>
          <a:prstGeom prst="rect">
            <a:avLst/>
          </a:prstGeom>
          <a:solidFill>
            <a:srgbClr val="F7F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7"/>
          <p:cNvSpPr/>
          <p:nvPr/>
        </p:nvSpPr>
        <p:spPr>
          <a:xfrm>
            <a:off x="514350" y="3571875"/>
            <a:ext cx="35700" cy="471600"/>
          </a:xfrm>
          <a:prstGeom prst="rect">
            <a:avLst/>
          </a:prstGeom>
          <a:solidFill>
            <a:srgbClr val="5E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7"/>
          <p:cNvSpPr txBox="1"/>
          <p:nvPr/>
        </p:nvSpPr>
        <p:spPr>
          <a:xfrm>
            <a:off x="628650" y="3614738"/>
            <a:ext cx="7929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Se a UI não aceitar UC functions como ferramentas: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use só as salas Genie como subagentes, já que a sala de crédito contém as funções.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7"/>
          <p:cNvSpPr txBox="1"/>
          <p:nvPr/>
        </p:nvSpPr>
        <p:spPr>
          <a:xfrm>
            <a:off x="514350" y="4143375"/>
            <a:ext cx="8115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Pergunta e esperado no próximo slide  →</a:t>
            </a:r>
            <a:endParaRPr b="1"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8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8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ATO 4 · PASSO 4.4 · PERGUNTAR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8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A pergunta completa para o time de agentes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8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8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8"/>
          <p:cNvSpPr txBox="1"/>
          <p:nvPr/>
        </p:nvSpPr>
        <p:spPr>
          <a:xfrm>
            <a:off x="514350" y="1143000"/>
            <a:ext cx="81153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Onde clicar: </a:t>
            </a: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Agents → supervisor-credito-nuclea → Test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 ·   abrir: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agents</a:t>
            </a:r>
            <a:endParaRPr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8"/>
          <p:cNvSpPr txBox="1"/>
          <p:nvPr/>
        </p:nvSpPr>
        <p:spPr>
          <a:xfrm>
            <a:off x="7500938" y="4929188"/>
            <a:ext cx="1357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↩ índice do roteiro</a:t>
            </a:r>
            <a:endParaRPr sz="9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8"/>
          <p:cNvSpPr/>
          <p:nvPr/>
        </p:nvSpPr>
        <p:spPr>
          <a:xfrm>
            <a:off x="514350" y="1400175"/>
            <a:ext cx="8115300" cy="9288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8"/>
          <p:cNvSpPr txBox="1"/>
          <p:nvPr/>
        </p:nvSpPr>
        <p:spPr>
          <a:xfrm>
            <a:off x="614363" y="1443038"/>
            <a:ext cx="7915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GENIE CODE ›</a:t>
            </a:r>
            <a:endParaRPr b="1" sz="8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Sou a instituição ISPB 42691787. Como está a minha carteira de crédito de empresas do segmento varejo, pequeno porte, com presença na região sudeste? Depois investigue os 2 tomadores mais críticos em boletos e risco e me dê o score do modelo de cada um.</a:t>
            </a:r>
            <a:endParaRPr sz="100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2" name="Google Shape;682;p38"/>
          <p:cNvSpPr/>
          <p:nvPr/>
        </p:nvSpPr>
        <p:spPr>
          <a:xfrm>
            <a:off x="514350" y="2471738"/>
            <a:ext cx="4000500" cy="1428900"/>
          </a:xfrm>
          <a:prstGeom prst="rect">
            <a:avLst/>
          </a:prstGeom>
          <a:solidFill>
            <a:srgbClr val="EAFF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8"/>
          <p:cNvSpPr/>
          <p:nvPr/>
        </p:nvSpPr>
        <p:spPr>
          <a:xfrm>
            <a:off x="514350" y="2471738"/>
            <a:ext cx="35700" cy="1428900"/>
          </a:xfrm>
          <a:prstGeom prst="rect">
            <a:avLst/>
          </a:prstGeom>
          <a:solidFill>
            <a:srgbClr val="0079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8"/>
          <p:cNvSpPr txBox="1"/>
          <p:nvPr/>
        </p:nvSpPr>
        <p:spPr>
          <a:xfrm>
            <a:off x="628650" y="2514600"/>
            <a:ext cx="38148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</a:rPr>
              <a:t>Esperado no trace: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a sala de crédito acionada para resumo, quebra e sinais de alerta; depois as salas de Risco e Boletos para os 2 tomadores críticos e o Score ML (score_cnpj) para cada um.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8"/>
          <p:cNvSpPr/>
          <p:nvPr/>
        </p:nvSpPr>
        <p:spPr>
          <a:xfrm>
            <a:off x="4629150" y="2471738"/>
            <a:ext cx="4000500" cy="1428900"/>
          </a:xfrm>
          <a:prstGeom prst="rect">
            <a:avLst/>
          </a:prstGeom>
          <a:solidFill>
            <a:srgbClr val="F7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8"/>
          <p:cNvSpPr/>
          <p:nvPr/>
        </p:nvSpPr>
        <p:spPr>
          <a:xfrm>
            <a:off x="4629150" y="2471738"/>
            <a:ext cx="35700" cy="1428900"/>
          </a:xfrm>
          <a:prstGeom prst="rect">
            <a:avLst/>
          </a:prstGeom>
          <a:solidFill>
            <a:srgbClr val="6B2F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8"/>
          <p:cNvSpPr txBox="1"/>
          <p:nvPr/>
        </p:nvSpPr>
        <p:spPr>
          <a:xfrm>
            <a:off x="4743450" y="2514600"/>
            <a:ext cx="38148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Clímax: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abra o trace e mostre quais especialistas foram acionados e com quais filtros. “O cientista não precisou estar na sala.” Os números do resumo devem bater com o passo 4.2.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9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9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ATO 4 · PASSO 4.5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9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O próprio Genie Code como agente de crédito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9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9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9"/>
          <p:cNvSpPr txBox="1"/>
          <p:nvPr/>
        </p:nvSpPr>
        <p:spPr>
          <a:xfrm>
            <a:off x="514350" y="1143000"/>
            <a:ext cx="81153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Onde clicar: </a:t>
            </a: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Genie Code → Settings → MCP → UC Functions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 ·   abrir: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schema lab credito</a:t>
            </a:r>
            <a:endParaRPr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9"/>
          <p:cNvSpPr txBox="1"/>
          <p:nvPr/>
        </p:nvSpPr>
        <p:spPr>
          <a:xfrm>
            <a:off x="7500938" y="4929188"/>
            <a:ext cx="1357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↩ índice do roteiro</a:t>
            </a:r>
            <a:endParaRPr sz="9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9"/>
          <p:cNvSpPr txBox="1"/>
          <p:nvPr/>
        </p:nvSpPr>
        <p:spPr>
          <a:xfrm>
            <a:off x="514350" y="1371600"/>
            <a:ext cx="8115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Adicione as funções de workshop_nuclea_genie_catalog.lab_credito como servidor MCP. Depois, no painel do Genie Code: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9"/>
          <p:cNvSpPr/>
          <p:nvPr/>
        </p:nvSpPr>
        <p:spPr>
          <a:xfrm>
            <a:off x="514350" y="1628775"/>
            <a:ext cx="8115300" cy="8574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9"/>
          <p:cNvSpPr txBox="1"/>
          <p:nvPr/>
        </p:nvSpPr>
        <p:spPr>
          <a:xfrm>
            <a:off x="614363" y="1671638"/>
            <a:ext cx="79152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GENIE CODE ›</a:t>
            </a:r>
            <a:endParaRPr b="1" sz="8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@nuclea-monitoramento-credito Usando as ferramentas de lab_credito, quais tomadores da carteira do ISPB 42691787 (Varejo, pequeno porte, Sudeste) eu devo olhar primeiro e por quê? Monte uma tabela com saldo, sinais e ação recomendada.</a:t>
            </a:r>
            <a:endParaRPr sz="100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702" name="Google Shape;702;p39"/>
          <p:cNvGraphicFramePr/>
          <p:nvPr/>
        </p:nvGraphicFramePr>
        <p:xfrm>
          <a:off x="514350" y="262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{D482BDD0-B64D-46E4-96DA-3601281D979A}</a:tableStyleId>
              </a:tblPr>
              <a:tblGrid>
                <a:gridCol w="1696625"/>
                <a:gridCol w="3732600"/>
              </a:tblGrid>
              <a:tr h="3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Esperado entre os destaques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 quê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Novais Moreira S.A.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 caiu 173 pontos, faixa D, 2 alertas em aberto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Gonçalves da Mota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inadimplente, com boleto adulterado confirmado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03" name="Google Shape;703;p39"/>
          <p:cNvSpPr/>
          <p:nvPr/>
        </p:nvSpPr>
        <p:spPr>
          <a:xfrm>
            <a:off x="6086475" y="2628900"/>
            <a:ext cx="2543100" cy="1071600"/>
          </a:xfrm>
          <a:prstGeom prst="rect">
            <a:avLst/>
          </a:prstGeom>
          <a:solidFill>
            <a:srgbClr val="F7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9"/>
          <p:cNvSpPr/>
          <p:nvPr/>
        </p:nvSpPr>
        <p:spPr>
          <a:xfrm>
            <a:off x="6086475" y="2628900"/>
            <a:ext cx="35700" cy="1071600"/>
          </a:xfrm>
          <a:prstGeom prst="rect">
            <a:avLst/>
          </a:prstGeom>
          <a:solidFill>
            <a:srgbClr val="6B2F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9"/>
          <p:cNvSpPr txBox="1"/>
          <p:nvPr/>
        </p:nvSpPr>
        <p:spPr>
          <a:xfrm>
            <a:off x="6200775" y="2671763"/>
            <a:ext cx="23574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Governança: </a:t>
            </a:r>
            <a:r>
              <a:rPr lang="en" sz="1200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o ISPB vem do login, nunca do LLM; EXECUTE vale igual para pessoas e agentes.</a:t>
            </a:r>
            <a:endParaRPr sz="1200">
              <a:solidFill>
                <a:srgbClr val="0E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0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0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ATO 4 · PLANO B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0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Se algo falhar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0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40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0"/>
          <p:cNvSpPr txBox="1"/>
          <p:nvPr/>
        </p:nvSpPr>
        <p:spPr>
          <a:xfrm>
            <a:off x="514350" y="1143000"/>
            <a:ext cx="81153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Onde clicar: </a:t>
            </a:r>
            <a:r>
              <a:rPr b="1" lang="en" sz="12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SQL editor e sala Genie de crédito</a:t>
            </a:r>
            <a:r>
              <a:rPr lang="en" sz="1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   ·   abrir: </a:t>
            </a:r>
            <a:r>
              <a:rPr lang="en" sz="12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sala credito</a:t>
            </a:r>
            <a:endParaRPr sz="12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0"/>
          <p:cNvSpPr txBox="1"/>
          <p:nvPr/>
        </p:nvSpPr>
        <p:spPr>
          <a:xfrm>
            <a:off x="7500938" y="4929188"/>
            <a:ext cx="1357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0795A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↩ índice do roteiro</a:t>
            </a:r>
            <a:endParaRPr sz="900" u="sng">
              <a:solidFill>
                <a:srgbClr val="0079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7" name="Google Shape;717;p40"/>
          <p:cNvGraphicFramePr/>
          <p:nvPr/>
        </p:nvGraphicFramePr>
        <p:xfrm>
          <a:off x="51435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{D482BDD0-B64D-46E4-96DA-3601281D979A}</a:tableStyleId>
              </a:tblPr>
              <a:tblGrid>
                <a:gridCol w="2637450"/>
                <a:gridCol w="5477825"/>
              </a:tblGrid>
              <a:tr h="39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falhar…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Faça</a:t>
                      </a:r>
                      <a:endParaRPr b="1" sz="11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9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4.1: o Genie Code demora ou erra os filtros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Rode direto no SQL editor: SELECT * FROM lab_credito.quebra_carteira('42691787','uf','Varejo','Pequeno','Sudeste') e o mesmo com sinais_alerta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4.3: a sala não usa as funções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Abra a sala e mostre as SQL functions anexadas; use as perguntas de exemplo já salvas</a:t>
                      </a:r>
                      <a:endParaRPr sz="11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4.4: Supervisor indisponível, lento ou sem aceitar UC functions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Pergunte na sala Genie de crédito (4.3), que já contém as funções</a:t>
                      </a:r>
                      <a:endParaRPr sz="11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 lento na primeira chamada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 o scale-to-zero. Repita depois de 1 a 2 minutos ou siga sem o Score ML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Tudo travou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Mostre o app de referência no workspace antigo: nuclea-monitor → Carteira de crédito</a:t>
                      </a:r>
                      <a:endParaRPr sz="11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1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1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ATO 4 · RESULTADO ESPERADO</a:t>
            </a:r>
            <a:endParaRPr b="1" sz="10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1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A resposta para o cliente, conferida</a:t>
            </a:r>
            <a:endParaRPr b="1" sz="22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41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41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7" name="Google Shape;727;p41"/>
          <p:cNvGraphicFramePr/>
          <p:nvPr/>
        </p:nvGraphicFramePr>
        <p:xfrm>
          <a:off x="514350" y="128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{D482BDD0-B64D-46E4-96DA-3601281D979A}</a:tableStyleId>
              </a:tblPr>
              <a:tblGrid>
                <a:gridCol w="2245175"/>
                <a:gridCol w="1020525"/>
                <a:gridCol w="1020525"/>
              </a:tblGrid>
              <a:tr h="3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ISPB 42691787 · Varejo · Pequeno · Sudeste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Minha carteira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Mercado</a:t>
                      </a:r>
                      <a:endParaRPr b="1"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Contratos ativos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622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6.258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</a:tr>
              <a:tr h="3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Saldo devedor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R$ 27,92 mi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R$ 260,33 mi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</a:tr>
              <a:tr h="3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inadimplência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4,02%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4,64%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</a:tr>
              <a:tr h="3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Tomadores com score em queda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19,3%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17,0%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</a:tr>
              <a:tr h="3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Maior tomador (% da carteira)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5,87%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DDDDD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</a:t>
                      </a:r>
                      <a:endParaRPr sz="1200">
                        <a:solidFill>
                          <a:srgbClr val="DDDDD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</a:tr>
            </a:tbl>
          </a:graphicData>
        </a:graphic>
      </p:graphicFrame>
      <p:sp>
        <p:nvSpPr>
          <p:cNvPr id="728" name="Google Shape;728;p41"/>
          <p:cNvSpPr txBox="1"/>
          <p:nvPr/>
        </p:nvSpPr>
        <p:spPr>
          <a:xfrm>
            <a:off x="514350" y="3786188"/>
            <a:ext cx="4286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Iguais ao SQL direto. Parecer completo: 5 especialistas em paralelo, cerca de 26 s.</a:t>
            </a:r>
            <a:endParaRPr sz="11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1"/>
          <p:cNvSpPr/>
          <p:nvPr/>
        </p:nvSpPr>
        <p:spPr>
          <a:xfrm>
            <a:off x="5000625" y="1285875"/>
            <a:ext cx="3629100" cy="27861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CC9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41"/>
          <p:cNvSpPr txBox="1"/>
          <p:nvPr/>
        </p:nvSpPr>
        <p:spPr>
          <a:xfrm>
            <a:off x="5143500" y="1371600"/>
            <a:ext cx="3372000" cy="26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O que o parecer recomendou</a:t>
            </a:r>
            <a:endParaRPr b="1" sz="15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Agir já: 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Novais Moreira S.A., com score 173 pontos menor, faixa D e 2 alertas de fraude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Revisar limite: 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um tomador de score 573 concentra 5,87% da carteira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MG pior que o mercado: 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4,51% contra 3,10%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Cobrança: 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priorizar os maiores saldos inadimplentes e checar o lastro nos casos com fraude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2"/>
          <p:cNvSpPr/>
          <p:nvPr/>
        </p:nvSpPr>
        <p:spPr>
          <a:xfrm>
            <a:off x="5857875" y="-14287"/>
            <a:ext cx="4143300" cy="5172000"/>
          </a:xfrm>
          <a:prstGeom prst="parallelogram">
            <a:avLst>
              <a:gd fmla="val 25000" name="adj"/>
            </a:avLst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42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2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O QUE MUDA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2"/>
          <p:cNvSpPr txBox="1"/>
          <p:nvPr/>
        </p:nvSpPr>
        <p:spPr>
          <a:xfrm>
            <a:off x="514350" y="500063"/>
            <a:ext cx="51435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Menos dependência, mais produto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2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42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2"/>
          <p:cNvSpPr/>
          <p:nvPr/>
        </p:nvSpPr>
        <p:spPr>
          <a:xfrm>
            <a:off x="514350" y="1271588"/>
            <a:ext cx="2571900" cy="12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42"/>
          <p:cNvSpPr txBox="1"/>
          <p:nvPr/>
        </p:nvSpPr>
        <p:spPr>
          <a:xfrm>
            <a:off x="628650" y="1371600"/>
            <a:ext cx="234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alibri"/>
                <a:ea typeface="Calibri"/>
                <a:cs typeface="Calibri"/>
                <a:sym typeface="Calibri"/>
              </a:rPr>
              <a:t>Conhecimento vira ativo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2"/>
          <p:cNvSpPr txBox="1"/>
          <p:nvPr/>
        </p:nvSpPr>
        <p:spPr>
          <a:xfrm>
            <a:off x="628650" y="1557338"/>
            <a:ext cx="2343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regras, armadilhas e validações escritas uma vez em skills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2"/>
          <p:cNvSpPr/>
          <p:nvPr/>
        </p:nvSpPr>
        <p:spPr>
          <a:xfrm>
            <a:off x="3228975" y="1271588"/>
            <a:ext cx="2571900" cy="12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42"/>
          <p:cNvSpPr txBox="1"/>
          <p:nvPr/>
        </p:nvSpPr>
        <p:spPr>
          <a:xfrm>
            <a:off x="3343275" y="1371600"/>
            <a:ext cx="234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alibri"/>
                <a:ea typeface="Calibri"/>
                <a:cs typeface="Calibri"/>
                <a:sym typeface="Calibri"/>
              </a:rPr>
              <a:t>Governança de ponta a ponta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2"/>
          <p:cNvSpPr txBox="1"/>
          <p:nvPr/>
        </p:nvSpPr>
        <p:spPr>
          <a:xfrm>
            <a:off x="3343275" y="1557338"/>
            <a:ext cx="2343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cada instituição vê só a própria carteira e os agregados, no Unity Catalog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2"/>
          <p:cNvSpPr/>
          <p:nvPr/>
        </p:nvSpPr>
        <p:spPr>
          <a:xfrm>
            <a:off x="514350" y="2628900"/>
            <a:ext cx="2571900" cy="12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42"/>
          <p:cNvSpPr txBox="1"/>
          <p:nvPr/>
        </p:nvSpPr>
        <p:spPr>
          <a:xfrm>
            <a:off x="628650" y="2728913"/>
            <a:ext cx="234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alibri"/>
                <a:ea typeface="Calibri"/>
                <a:cs typeface="Calibri"/>
                <a:sym typeface="Calibri"/>
              </a:rPr>
              <a:t>Do dia ao segundo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2"/>
          <p:cNvSpPr txBox="1"/>
          <p:nvPr/>
        </p:nvSpPr>
        <p:spPr>
          <a:xfrm>
            <a:off x="628650" y="2914650"/>
            <a:ext cx="2343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um parecer que tomava dias de um cientista sai em segundos, conferido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2"/>
          <p:cNvSpPr/>
          <p:nvPr/>
        </p:nvSpPr>
        <p:spPr>
          <a:xfrm>
            <a:off x="3228975" y="2628900"/>
            <a:ext cx="2571900" cy="12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42"/>
          <p:cNvSpPr txBox="1"/>
          <p:nvPr/>
        </p:nvSpPr>
        <p:spPr>
          <a:xfrm>
            <a:off x="3343275" y="2728913"/>
            <a:ext cx="234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alibri"/>
                <a:ea typeface="Calibri"/>
                <a:cs typeface="Calibri"/>
                <a:sym typeface="Calibri"/>
              </a:rPr>
              <a:t>Visão que só a Núclea tem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2"/>
          <p:cNvSpPr txBox="1"/>
          <p:nvPr/>
        </p:nvSpPr>
        <p:spPr>
          <a:xfrm>
            <a:off x="3343275" y="2914650"/>
            <a:ext cx="2343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53,8% dos tomadores em mais de uma IF; benchmark anônimo e alerta cruzando bases</a:t>
            </a:r>
            <a:endParaRPr sz="1100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42"/>
          <p:cNvSpPr txBox="1"/>
          <p:nvPr/>
        </p:nvSpPr>
        <p:spPr>
          <a:xfrm>
            <a:off x="6643688" y="1428750"/>
            <a:ext cx="2286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PARA O NEGÓCIO (PROPOSTA)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2"/>
          <p:cNvSpPr txBox="1"/>
          <p:nvPr/>
        </p:nvSpPr>
        <p:spPr>
          <a:xfrm>
            <a:off x="6643688" y="1685925"/>
            <a:ext cx="2286000" cy="23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IPs e cooperativas: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autoatendimento com agentes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Bancos médios: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parecer e benchmark para o comitê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Grandes bancos: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indicadores e score via API e Delta Sharing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FIDCs e credenciadoras: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monitoramento de lastro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Assinatura por ISPB em tiers + consumo por parecer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3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3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 b="1" sz="10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43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Da demo à produção</a:t>
            </a:r>
            <a:endParaRPr b="1" sz="22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3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43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3"/>
          <p:cNvSpPr/>
          <p:nvPr/>
        </p:nvSpPr>
        <p:spPr>
          <a:xfrm>
            <a:off x="514350" y="1285875"/>
            <a:ext cx="2571900" cy="18573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43"/>
          <p:cNvSpPr/>
          <p:nvPr/>
        </p:nvSpPr>
        <p:spPr>
          <a:xfrm>
            <a:off x="642938" y="1414463"/>
            <a:ext cx="642900" cy="2001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 cap="flat" cmpd="sng" w="19050">
            <a:solidFill>
              <a:srgbClr val="67F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30 dias</a:t>
            </a:r>
            <a:endParaRPr b="1" sz="11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3"/>
          <p:cNvSpPr txBox="1"/>
          <p:nvPr/>
        </p:nvSpPr>
        <p:spPr>
          <a:xfrm>
            <a:off x="642938" y="1714500"/>
            <a:ext cx="228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Piloto com dados reais</a:t>
            </a:r>
            <a:endParaRPr b="1" sz="1600">
              <a:solidFill>
                <a:srgbClr val="67FF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3"/>
          <p:cNvSpPr txBox="1"/>
          <p:nvPr/>
        </p:nvSpPr>
        <p:spPr>
          <a:xfrm>
            <a:off x="642938" y="2028825"/>
            <a:ext cx="22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uma base real (gravames e score) no ingestor e as skills adaptadas às regras reais</a:t>
            </a:r>
            <a:endParaRPr sz="13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3"/>
          <p:cNvSpPr/>
          <p:nvPr/>
        </p:nvSpPr>
        <p:spPr>
          <a:xfrm>
            <a:off x="3257550" y="1285875"/>
            <a:ext cx="2571900" cy="18573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43"/>
          <p:cNvSpPr/>
          <p:nvPr/>
        </p:nvSpPr>
        <p:spPr>
          <a:xfrm>
            <a:off x="3386138" y="1414463"/>
            <a:ext cx="642900" cy="2001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 cap="flat" cmpd="sng" w="19050">
            <a:solidFill>
              <a:srgbClr val="CC9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60 dias</a:t>
            </a:r>
            <a:endParaRPr b="1" sz="11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3"/>
          <p:cNvSpPr txBox="1"/>
          <p:nvPr/>
        </p:nvSpPr>
        <p:spPr>
          <a:xfrm>
            <a:off x="3386138" y="1714500"/>
            <a:ext cx="228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Agente de carteira</a:t>
            </a:r>
            <a:endParaRPr b="1" sz="16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3"/>
          <p:cNvSpPr txBox="1"/>
          <p:nvPr/>
        </p:nvSpPr>
        <p:spPr>
          <a:xfrm>
            <a:off x="3386138" y="2028825"/>
            <a:ext cx="22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ISPB vindo do login, avaliação das respostas com MLflow e monitoramento semanal agendado</a:t>
            </a:r>
            <a:endParaRPr sz="13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3"/>
          <p:cNvSpPr/>
          <p:nvPr/>
        </p:nvSpPr>
        <p:spPr>
          <a:xfrm>
            <a:off x="6000750" y="1285875"/>
            <a:ext cx="2571900" cy="1857300"/>
          </a:xfrm>
          <a:prstGeom prst="roundRect">
            <a:avLst>
              <a:gd fmla="val 16667" name="adj"/>
            </a:avLst>
          </a:prstGeom>
          <a:solidFill>
            <a:srgbClr val="0B0B0B"/>
          </a:solidFill>
          <a:ln cap="flat" cmpd="sng" w="1905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43"/>
          <p:cNvSpPr/>
          <p:nvPr/>
        </p:nvSpPr>
        <p:spPr>
          <a:xfrm>
            <a:off x="6129338" y="1414463"/>
            <a:ext cx="642900" cy="2001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 cap="flat" cmpd="sng" w="19050">
            <a:solidFill>
              <a:srgbClr val="DBED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90 dias</a:t>
            </a:r>
            <a:endParaRPr b="1" sz="11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3"/>
          <p:cNvSpPr txBox="1"/>
          <p:nvPr/>
        </p:nvSpPr>
        <p:spPr>
          <a:xfrm>
            <a:off x="6129338" y="1714500"/>
            <a:ext cx="228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Produto e novos temas</a:t>
            </a:r>
            <a:endParaRPr b="1" sz="16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3"/>
          <p:cNvSpPr txBox="1"/>
          <p:nvPr/>
        </p:nvSpPr>
        <p:spPr>
          <a:xfrm>
            <a:off x="6129338" y="2028825"/>
            <a:ext cx="22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tiers comerciais com clientes-piloto; georreferenciamento (IBGE) e otimização de clusters</a:t>
            </a:r>
            <a:endParaRPr sz="13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3"/>
          <p:cNvSpPr/>
          <p:nvPr/>
        </p:nvSpPr>
        <p:spPr>
          <a:xfrm>
            <a:off x="514350" y="3429000"/>
            <a:ext cx="8115300" cy="428700"/>
          </a:xfrm>
          <a:prstGeom prst="rect">
            <a:avLst/>
          </a:prstGeom>
          <a:solidFill>
            <a:srgbClr val="0623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3"/>
          <p:cNvSpPr/>
          <p:nvPr/>
        </p:nvSpPr>
        <p:spPr>
          <a:xfrm>
            <a:off x="514350" y="3429000"/>
            <a:ext cx="35700" cy="428700"/>
          </a:xfrm>
          <a:prstGeom prst="rect">
            <a:avLst/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3"/>
          <p:cNvSpPr txBox="1"/>
          <p:nvPr/>
        </p:nvSpPr>
        <p:spPr>
          <a:xfrm>
            <a:off x="628650" y="3471863"/>
            <a:ext cx="79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7FFCC"/>
                </a:solidFill>
                <a:latin typeface="Calibri"/>
                <a:ea typeface="Calibri"/>
                <a:cs typeface="Calibri"/>
                <a:sym typeface="Calibri"/>
              </a:rPr>
              <a:t>Pergunta para o time: </a:t>
            </a:r>
            <a:r>
              <a:rPr lang="en" sz="1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quais outras “cabeças” da Núclea (concessão, recuperação, liquidez) viram a próxima skill?</a:t>
            </a:r>
            <a:endParaRPr sz="12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4"/>
          <p:cNvSpPr txBox="1"/>
          <p:nvPr/>
        </p:nvSpPr>
        <p:spPr>
          <a:xfrm>
            <a:off x="6858000" y="157163"/>
            <a:ext cx="2071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Nuclea </a:t>
            </a:r>
            <a:r>
              <a:rPr lang="en" sz="1300">
                <a:solidFill>
                  <a:srgbClr val="5E660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databricks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4"/>
          <p:cNvSpPr txBox="1"/>
          <p:nvPr/>
        </p:nvSpPr>
        <p:spPr>
          <a:xfrm>
            <a:off x="514350" y="314325"/>
            <a:ext cx="714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B2FC0"/>
                </a:solidFill>
                <a:latin typeface="Calibri"/>
                <a:ea typeface="Calibri"/>
                <a:cs typeface="Calibri"/>
                <a:sym typeface="Calibri"/>
              </a:rPr>
              <a:t>ATIVOS NO WORKSPACE</a:t>
            </a:r>
            <a:endParaRPr b="1" sz="1000">
              <a:solidFill>
                <a:srgbClr val="6B2F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44"/>
          <p:cNvSpPr txBox="1"/>
          <p:nvPr/>
        </p:nvSpPr>
        <p:spPr>
          <a:xfrm>
            <a:off x="514350" y="500063"/>
            <a:ext cx="811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Tudo o que aparece na demo, a um clique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4"/>
          <p:cNvSpPr/>
          <p:nvPr/>
        </p:nvSpPr>
        <p:spPr>
          <a:xfrm>
            <a:off x="528638" y="1057275"/>
            <a:ext cx="928800" cy="429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4"/>
          <p:cNvSpPr txBox="1"/>
          <p:nvPr/>
        </p:nvSpPr>
        <p:spPr>
          <a:xfrm>
            <a:off x="514350" y="4929188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sz="900">
              <a:solidFill>
                <a:srgbClr val="BDBD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8" name="Google Shape;788;p44"/>
          <p:cNvGraphicFramePr/>
          <p:nvPr/>
        </p:nvGraphicFramePr>
        <p:xfrm>
          <a:off x="514350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{D482BDD0-B64D-46E4-96DA-3601281D979A}</a:tableStyleId>
              </a:tblPr>
              <a:tblGrid>
                <a:gridCol w="599525"/>
                <a:gridCol w="1573775"/>
                <a:gridCol w="1798600"/>
              </a:tblGrid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Ato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Ativo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Abrir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Dados de origem (18 tabelas)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workshop_nuclea_genie_catalog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1–2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 de ingestão e DQ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nuclea_lab_ingestao_dq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1–2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 de orquestração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nuclea_lab_ingestao_orquestracao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1–2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Volume com os lotes brutos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lab_ingestao.landing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Reconciliação de qualidade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vw_dq_reconciliacao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Tabela de features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lab_ml.features_pj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Experimento MLflow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nuclea_tema5_score_pj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 @champion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score_inadimplencia_pj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 em tempo real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nuclea-score-inadimplencia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Carteira enriquecida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lab_credito.carteira_contratos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9" name="Google Shape;789;p44"/>
          <p:cNvGraphicFramePr/>
          <p:nvPr/>
        </p:nvGraphicFramePr>
        <p:xfrm>
          <a:off x="4657725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{D482BDD0-B64D-46E4-96DA-3601281D979A}</a:tableStyleId>
              </a:tblPr>
              <a:tblGrid>
                <a:gridCol w="599525"/>
                <a:gridCol w="1573775"/>
                <a:gridCol w="1798600"/>
              </a:tblGrid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Ato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Ativo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Abrir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Ferramentas (schema)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schema lab_credito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Função: resumo × mercado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resumo_carteira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Função: quebra por dimensão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quebra_carteira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Função: safras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evolucao_carteira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Função: maiores tomadores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maiores_exposicoes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Função: alerta precoce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sinais_alerta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 Genie de crédito (pronta)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Monitoramento de Credito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Salas Genie por base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lista de salas Genie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Supervisor / Agents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Agents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646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Skills do Genie Code</a:t>
                      </a:r>
                      <a:endParaRPr sz="900">
                        <a:solidFill>
                          <a:srgbClr val="46464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rgbClr val="0079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.assistant/skills</a:t>
                      </a:r>
                      <a:endParaRPr sz="900" u="sng">
                        <a:solidFill>
                          <a:srgbClr val="00795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5"/>
          <p:cNvSpPr/>
          <p:nvPr/>
        </p:nvSpPr>
        <p:spPr>
          <a:xfrm>
            <a:off x="5429250" y="-14287"/>
            <a:ext cx="4572000" cy="5172000"/>
          </a:xfrm>
          <a:prstGeom prst="parallelogram">
            <a:avLst>
              <a:gd fmla="val 25000" name="adj"/>
            </a:avLst>
          </a:prstGeom>
          <a:solidFill>
            <a:srgbClr val="67F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45"/>
          <p:cNvSpPr txBox="1"/>
          <p:nvPr/>
        </p:nvSpPr>
        <p:spPr>
          <a:xfrm>
            <a:off x="514350" y="1571625"/>
            <a:ext cx="428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DBED1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1" sz="3400">
              <a:solidFill>
                <a:srgbClr val="DBE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45"/>
          <p:cNvSpPr txBox="1"/>
          <p:nvPr/>
        </p:nvSpPr>
        <p:spPr>
          <a:xfrm>
            <a:off x="514350" y="1928813"/>
            <a:ext cx="4572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CC99FE"/>
                </a:solidFill>
                <a:latin typeface="Calibri"/>
                <a:ea typeface="Calibri"/>
                <a:cs typeface="Calibri"/>
                <a:sym typeface="Calibri"/>
              </a:rPr>
              <a:t>Obrigado</a:t>
            </a:r>
            <a:endParaRPr b="1" sz="4800">
              <a:solidFill>
                <a:srgbClr val="CC9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5"/>
          <p:cNvSpPr/>
          <p:nvPr/>
        </p:nvSpPr>
        <p:spPr>
          <a:xfrm>
            <a:off x="528638" y="2714625"/>
            <a:ext cx="1571700" cy="64200"/>
          </a:xfrm>
          <a:prstGeom prst="roundRect">
            <a:avLst>
              <a:gd fmla="val 16667" name="adj"/>
            </a:avLst>
          </a:prstGeom>
          <a:solidFill>
            <a:srgbClr val="DBE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45"/>
          <p:cNvSpPr txBox="1"/>
          <p:nvPr/>
        </p:nvSpPr>
        <p:spPr>
          <a:xfrm>
            <a:off x="514350" y="2928938"/>
            <a:ext cx="442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Skills, pipelines, modelo, endpoint, funções e app ficam no workspace, prontos para o time reproduzir.</a:t>
            </a:r>
            <a:endParaRPr sz="1600">
              <a:solidFill>
                <a:srgbClr val="DDDD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45"/>
          <p:cNvSpPr txBox="1"/>
          <p:nvPr/>
        </p:nvSpPr>
        <p:spPr>
          <a:xfrm>
            <a:off x="6643688" y="1785938"/>
            <a:ext cx="2286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PARA REPLICAR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5"/>
          <p:cNvSpPr txBox="1"/>
          <p:nvPr/>
        </p:nvSpPr>
        <p:spPr>
          <a:xfrm>
            <a:off x="6643688" y="2035969"/>
            <a:ext cx="23574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roteiro_demo_genie_code.html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skills em .assistant/skills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workshop_nuclea_genie_catalog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